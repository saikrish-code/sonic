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59" r:id="rId3"/>
    <p:sldId id="260" r:id="rId4"/>
    <p:sldId id="265" r:id="rId5"/>
    <p:sldId id="287" r:id="rId6"/>
    <p:sldId id="264" r:id="rId7"/>
    <p:sldId id="266" r:id="rId8"/>
    <p:sldId id="280" r:id="rId9"/>
    <p:sldId id="281" r:id="rId10"/>
    <p:sldId id="268" r:id="rId11"/>
    <p:sldId id="288" r:id="rId12"/>
    <p:sldId id="267" r:id="rId13"/>
    <p:sldId id="283" r:id="rId14"/>
    <p:sldId id="284" r:id="rId15"/>
    <p:sldId id="285" r:id="rId16"/>
    <p:sldId id="272" r:id="rId17"/>
    <p:sldId id="2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13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3FBD6-DC97-41F4-BB13-43EEDA08069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8C3D-E089-4FCA-8572-DE73EC28FE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81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570AC8CD-6977-7767-D63D-E4BDD48D54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Title of the project</a:t>
            </a:r>
          </a:p>
        </p:txBody>
      </p:sp>
      <p:sp>
        <p:nvSpPr>
          <p:cNvPr id="21506" name="Rectangle 6">
            <a:extLst>
              <a:ext uri="{FF2B5EF4-FFF2-40B4-BE49-F238E27FC236}">
                <a16:creationId xmlns:a16="http://schemas.microsoft.com/office/drawing/2014/main" id="{C08648CD-CED9-3972-268F-A9B1E6A1A7B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</a:rPr>
              <a:t>CSE Dept., SET-Jain University</a:t>
            </a:r>
          </a:p>
        </p:txBody>
      </p:sp>
      <p:sp>
        <p:nvSpPr>
          <p:cNvPr id="21507" name="Rectangle 7">
            <a:extLst>
              <a:ext uri="{FF2B5EF4-FFF2-40B4-BE49-F238E27FC236}">
                <a16:creationId xmlns:a16="http://schemas.microsoft.com/office/drawing/2014/main" id="{16208FB1-7A38-971B-DF6D-0B5D334F22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147042EA-CE20-43FD-A096-A66C74C4D72E}" type="slidenum">
              <a:rPr lang="en-US" altLang="en-US" smtClean="0">
                <a:latin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52CC27E6-4817-9792-F51D-CE8BF4B51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BEFD4037-8C20-1FA1-7900-26818413E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A8C3D-E089-4FCA-8572-DE73EC28FE0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092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50A8-FC27-41D1-DA80-106715196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FA89F-2D15-CFDB-B1F6-AB1685D82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5D9B2-05AF-F76A-D65A-94944A4C3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A4C5-05F6-95F5-6698-4512757FB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C177C-70E8-A939-5404-AF0EE59B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44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325C-7A8C-61E6-1C2A-A8E8CCCB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C853E-B7A1-4661-A016-6C99E7E19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9F596-07DA-E717-5134-E1E5C1B3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D323C-6BB4-71C1-FBDB-0CCA4A64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F7E34-208F-7211-B896-EC23912A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8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4B6E-820B-3214-B954-B364713F8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336F7-D363-72F3-D68E-DDB19325F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8BAAF-92BE-6F6C-7ACD-1FB2E0362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3F00F-084F-9FFB-84F9-DE6549FC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DACCD-C26E-0FE8-10E8-61B2025F2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45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835E-7732-1718-0C4C-2B3DDB14C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13235-EF6C-1E75-7A80-B69A43C1B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89B93-4F31-2E91-7E8F-AA3EBD398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A02A1-0C4A-545D-5A28-51129506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BE9F3-1D55-1CE2-0773-D1206F26C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CA42F-A1DD-9FDA-47D7-24BA588B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16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CAEAA-EFD0-78D7-2C94-CE6B27F70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DE573-AC34-7224-EE71-D6DFDB386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2891C-F16C-1B9B-4358-7630C910E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D510EA-4639-3BBC-3054-F6A81ED17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9067F-CD5B-BA76-78E0-282734880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AEE9C7-1941-9B7F-799F-B223F387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D1684-DD50-1669-AD46-298CD1E64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F536C-FD25-E6CE-9351-F8A04393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0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38B6-B8F0-EFAA-030D-EB3EAA44B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9C7F0-A19B-967B-4191-EB2384197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D5072-A338-2E03-2E67-4337A5A9E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B52CA-9874-D51B-08B9-0D0C9177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2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C9AB8-6FF4-60E2-DABB-0071E5FC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ABCE9-59F5-3AB0-6797-53ED93D06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FD8EF-6004-EA93-6F32-0D97E419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14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A2C1-84B5-2C56-AFBC-0E589E54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F6BD9-5CA2-0F86-F01B-A4F325A78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53C5A-B357-20FA-CE26-DDBD0C215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41844-D610-0D6F-E554-AF93549D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EE48F-EB7B-B11B-EF7D-220CFBACD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A672B-FE5A-7A77-0AF0-A5E872C4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8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B0EC0-1071-0AC3-CD9C-9D1B133F5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C4F94-5221-1EC1-A393-ECAE2834A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6D82D-4A40-4CEF-D1BB-787F3DFA0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B1367-29FB-6821-21FC-F850CD993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EE7BA-14E8-6A63-861B-CC6B2190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C87C5-9CF8-B825-C294-4604A646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08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652CA-A0A1-21A0-DA2A-D0991124E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29C0A-F022-E448-9265-07E3E417A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08FD2-EA12-E506-577B-1B2E6547F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221D6-7878-3980-5FE0-7049C8F7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EFDCF-8C0D-8BD4-F918-2E5860E4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910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4BABA2-16B8-7B5C-9A1F-CEE4AD20B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2F9D1-5CAE-F716-FB50-E4650F5D1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75AEB-2737-6849-B952-8029132E3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A2274-9C90-0A62-775A-10B88330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344C9-81ED-50EF-22E7-921C8975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2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EB2F3-488E-449D-88F9-97E71B38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BEA1F-F6E6-F946-0E00-CC1EB434D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1B2E5-8F92-6B19-1F39-F968A1F46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B8670-918A-4B8E-9A15-6A8F75A15371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59C0B-5DD7-2925-55A4-663532D99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01B7B-984B-405B-ADB4-79E8F10B0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B40F6-3484-4748-8B48-75D69D7D08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13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abstract/document/10705693" TargetMode="External"/><Relationship Id="rId3" Type="http://schemas.openxmlformats.org/officeDocument/2006/relationships/hyperlink" Target="https://ieeexplore.ieee.org/abstract/document/10473997" TargetMode="External"/><Relationship Id="rId7" Type="http://schemas.openxmlformats.org/officeDocument/2006/relationships/hyperlink" Target="https://ieeexplore.ieee.org/abstract/document/10198186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ieeexplore.ieee.org/abstract/document/9970736" TargetMode="External"/><Relationship Id="rId5" Type="http://schemas.openxmlformats.org/officeDocument/2006/relationships/hyperlink" Target="https://ieeexplore.ieee.org/abstract/document/10771773" TargetMode="External"/><Relationship Id="rId10" Type="http://schemas.openxmlformats.org/officeDocument/2006/relationships/hyperlink" Target="https://ieeexplore.ieee.org/abstract/document/10699341" TargetMode="External"/><Relationship Id="rId4" Type="http://schemas.openxmlformats.org/officeDocument/2006/relationships/hyperlink" Target="https://www.sciencedirect.com/science/article/pii/S2772671124001426" TargetMode="External"/><Relationship Id="rId9" Type="http://schemas.openxmlformats.org/officeDocument/2006/relationships/hyperlink" Target="https://ieeexplore.ieee.org/abstract/document/10689419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6C987BB-F793-3563-ACD5-D4E863812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64" y="-40091"/>
            <a:ext cx="12016636" cy="6929524"/>
          </a:xfrm>
          <a:prstGeom prst="rect">
            <a:avLst/>
          </a:prstGeom>
        </p:spPr>
      </p:pic>
      <p:sp>
        <p:nvSpPr>
          <p:cNvPr id="20482" name="Rectangle 3">
            <a:extLst>
              <a:ext uri="{FF2B5EF4-FFF2-40B4-BE49-F238E27FC236}">
                <a16:creationId xmlns:a16="http://schemas.microsoft.com/office/drawing/2014/main" id="{A6C55838-DA16-2D81-248B-4F4BD6744FE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09800" y="2553239"/>
            <a:ext cx="7772400" cy="731837"/>
          </a:xfrm>
        </p:spPr>
        <p:txBody>
          <a:bodyPr>
            <a:normAutofit lnSpcReduction="10000"/>
          </a:bodyPr>
          <a:lstStyle/>
          <a:p>
            <a:r>
              <a:rPr lang="en-IN" b="1" i="1" dirty="0"/>
              <a:t>Hybrid Piezo-Solar Smart Pad with Wheel-Embedded Receiver for Sustainable EV Charging</a:t>
            </a:r>
            <a:endParaRPr lang="en-IN" i="1" dirty="0"/>
          </a:p>
        </p:txBody>
      </p:sp>
      <p:sp>
        <p:nvSpPr>
          <p:cNvPr id="20483" name="TextBox 1">
            <a:extLst>
              <a:ext uri="{FF2B5EF4-FFF2-40B4-BE49-F238E27FC236}">
                <a16:creationId xmlns:a16="http://schemas.microsoft.com/office/drawing/2014/main" id="{817C6146-1ED9-BE55-E5A7-037632D7D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526" y="4786241"/>
            <a:ext cx="5174235" cy="22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3200"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tx1"/>
                </a:solidFill>
                <a:latin typeface="+mn-lt"/>
              </a:rPr>
              <a:t>PRESENTED BY:</a:t>
            </a:r>
          </a:p>
          <a:p>
            <a:pPr algn="ctr">
              <a:buNone/>
            </a:pPr>
            <a:r>
              <a:rPr lang="en-IN" sz="1800" b="1" dirty="0">
                <a:latin typeface="+mn-lt"/>
              </a:rPr>
              <a:t>HARSHITA JEETENDRA BHUTE- ENG22DS0003</a:t>
            </a:r>
            <a:endParaRPr lang="en-IN" sz="1800" dirty="0">
              <a:latin typeface="+mn-lt"/>
            </a:endParaRPr>
          </a:p>
          <a:p>
            <a:pPr algn="ctr">
              <a:buNone/>
            </a:pPr>
            <a:r>
              <a:rPr lang="en-IN" sz="1800" b="1" dirty="0">
                <a:latin typeface="+mn-lt"/>
              </a:rPr>
              <a:t>JANARDHAN K S – ENG22DS0004</a:t>
            </a:r>
            <a:endParaRPr lang="en-IN" sz="1800" dirty="0">
              <a:latin typeface="+mn-lt"/>
            </a:endParaRPr>
          </a:p>
          <a:p>
            <a:pPr algn="ctr">
              <a:buNone/>
            </a:pPr>
            <a:r>
              <a:rPr lang="en-IN" sz="1800" b="1" dirty="0">
                <a:latin typeface="+mn-lt"/>
              </a:rPr>
              <a:t>R SINDHU- ENG22DS0010</a:t>
            </a:r>
            <a:endParaRPr lang="en-IN" sz="1800" dirty="0">
              <a:latin typeface="+mn-lt"/>
            </a:endParaRPr>
          </a:p>
          <a:p>
            <a:pPr algn="ctr">
              <a:buNone/>
            </a:pPr>
            <a:r>
              <a:rPr lang="en-IN" sz="1800" b="1" dirty="0">
                <a:latin typeface="+mn-lt"/>
              </a:rPr>
              <a:t>VIRIKA OLIVIA SOANS- ENG22DS0024</a:t>
            </a:r>
            <a:endParaRPr lang="en-IN" altLang="en-US" sz="1800" b="1" dirty="0">
              <a:solidFill>
                <a:schemeClr val="tx1"/>
              </a:solidFill>
              <a:latin typeface="+mn-lt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IN" altLang="en-US"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484" name="TextBox 5">
            <a:extLst>
              <a:ext uri="{FF2B5EF4-FFF2-40B4-BE49-F238E27FC236}">
                <a16:creationId xmlns:a16="http://schemas.microsoft.com/office/drawing/2014/main" id="{A18176D0-AFAF-C02B-9861-0BE6A4B58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013" y="1954408"/>
            <a:ext cx="5905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3200"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CAPSTONE PHASE -I Review 1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F3AA64CB-2664-76B5-6F9D-770F8AD20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4927" y="1240073"/>
            <a:ext cx="5757672" cy="32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3200"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SzPct val="65000"/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D0D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</a:t>
            </a:r>
            <a:r>
              <a:rPr lang="en-IN" altLang="en-US" sz="2400" b="1" dirty="0">
                <a:solidFill>
                  <a:srgbClr val="0D0D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CSE (Data Science)</a:t>
            </a:r>
            <a:endParaRPr lang="en-US" altLang="en-US" sz="2400" b="1" dirty="0">
              <a:solidFill>
                <a:srgbClr val="0D0D4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486" name="TextBox 5">
            <a:extLst>
              <a:ext uri="{FF2B5EF4-FFF2-40B4-BE49-F238E27FC236}">
                <a16:creationId xmlns:a16="http://schemas.microsoft.com/office/drawing/2014/main" id="{1A1E9D1F-BCC2-97CB-8AFB-AC3C92B2C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7934" y="3344067"/>
            <a:ext cx="29634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3200"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0032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SUPERVISION </a:t>
            </a:r>
          </a:p>
        </p:txBody>
      </p:sp>
      <p:sp>
        <p:nvSpPr>
          <p:cNvPr id="20487" name="Slide Number Placeholder 3">
            <a:extLst>
              <a:ext uri="{FF2B5EF4-FFF2-40B4-BE49-F238E27FC236}">
                <a16:creationId xmlns:a16="http://schemas.microsoft.com/office/drawing/2014/main" id="{B7EDBFE8-E451-34E5-868D-A063FA75E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3200"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E5FDF3-BF50-45F0-8590-E9B69B9D7F1E}" type="slidenum">
              <a:rPr lang="en-US" altLang="en-US" sz="200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33667C-FB76-696E-AAE7-5FB1548C6E19}"/>
              </a:ext>
            </a:extLst>
          </p:cNvPr>
          <p:cNvSpPr txBox="1"/>
          <p:nvPr/>
        </p:nvSpPr>
        <p:spPr>
          <a:xfrm>
            <a:off x="3154927" y="248425"/>
            <a:ext cx="61294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DAYANANDA SAGAR UNIVERSITY</a:t>
            </a:r>
          </a:p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SCHOOL OF ENGINEERING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E70690-CB93-6AAB-1D75-309FD3411E35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tx1"/>
          </a:solidFill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E3B02-0816-9F4A-1117-B3B294B1C51A}"/>
              </a:ext>
            </a:extLst>
          </p:cNvPr>
          <p:cNvSpPr/>
          <p:nvPr/>
        </p:nvSpPr>
        <p:spPr>
          <a:xfrm>
            <a:off x="11887200" y="6135"/>
            <a:ext cx="304800" cy="6883298"/>
          </a:xfrm>
          <a:prstGeom prst="rect">
            <a:avLst/>
          </a:prstGeom>
          <a:solidFill>
            <a:schemeClr val="tx1"/>
          </a:solidFill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489" name="Picture 4">
            <a:extLst>
              <a:ext uri="{FF2B5EF4-FFF2-40B4-BE49-F238E27FC236}">
                <a16:creationId xmlns:a16="http://schemas.microsoft.com/office/drawing/2014/main" id="{C006C6A3-78AF-CCDA-30A2-871C92B84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89" y="339715"/>
            <a:ext cx="2233613" cy="7715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2">
            <a:extLst>
              <a:ext uri="{FF2B5EF4-FFF2-40B4-BE49-F238E27FC236}">
                <a16:creationId xmlns:a16="http://schemas.microsoft.com/office/drawing/2014/main" id="{05F0CF0F-9342-B720-A096-F14EAF4B0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849" y="302338"/>
            <a:ext cx="1989138" cy="7715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662C04D-6960-A684-2AFA-DCA84F380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837" y="3803169"/>
            <a:ext cx="25768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3200"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0032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Manjula M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0032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Assistant Professor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760CBDC0-E1B0-559B-E1F3-70D45CBFA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8975" y="3803169"/>
            <a:ext cx="25768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3200"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0032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Kishore Malakar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0032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Assistant Professor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06A2DD-054A-841B-DD24-D3A38F8B1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31BE28-61F6-CEA4-AC44-503D640165F6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tx1"/>
          </a:solidFill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A74405-EA33-0B9B-3055-F1E8F4512328}"/>
              </a:ext>
            </a:extLst>
          </p:cNvPr>
          <p:cNvSpPr/>
          <p:nvPr/>
        </p:nvSpPr>
        <p:spPr>
          <a:xfrm>
            <a:off x="11793884" y="0"/>
            <a:ext cx="398116" cy="6858000"/>
          </a:xfrm>
          <a:prstGeom prst="rect">
            <a:avLst/>
          </a:prstGeom>
          <a:solidFill>
            <a:schemeClr val="tx1"/>
          </a:solidFill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89885-663B-412C-1F34-961595FBDD25}"/>
              </a:ext>
            </a:extLst>
          </p:cNvPr>
          <p:cNvSpPr txBox="1"/>
          <p:nvPr/>
        </p:nvSpPr>
        <p:spPr>
          <a:xfrm>
            <a:off x="1711463" y="942065"/>
            <a:ext cx="765163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of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of the Art work (Literature survey)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IN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4028E-2D06-0E1D-80E3-313B095FF15A}"/>
              </a:ext>
            </a:extLst>
          </p:cNvPr>
          <p:cNvSpPr txBox="1"/>
          <p:nvPr/>
        </p:nvSpPr>
        <p:spPr>
          <a:xfrm>
            <a:off x="4793549" y="159298"/>
            <a:ext cx="25115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u="sng" dirty="0"/>
              <a:t>OVERVIEW</a:t>
            </a:r>
            <a:endParaRPr lang="en-IN" sz="3600" b="1" u="sng" dirty="0"/>
          </a:p>
        </p:txBody>
      </p:sp>
    </p:spTree>
    <p:extLst>
      <p:ext uri="{BB962C8B-B14F-4D97-AF65-F5344CB8AC3E}">
        <p14:creationId xmlns:p14="http://schemas.microsoft.com/office/powerpoint/2010/main" val="385853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13187A7-4E47-05AE-33D4-9CC09BE75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C359E4-F41C-DA78-D900-049ACE2AB162}"/>
              </a:ext>
            </a:extLst>
          </p:cNvPr>
          <p:cNvSpPr txBox="1"/>
          <p:nvPr/>
        </p:nvSpPr>
        <p:spPr>
          <a:xfrm>
            <a:off x="4898813" y="457170"/>
            <a:ext cx="239437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 u="sng" dirty="0">
                <a:cs typeface="Calibri Light"/>
              </a:rPr>
              <a:t>ABSTRACT</a:t>
            </a:r>
            <a:endParaRPr lang="en-IN" sz="4400" b="1" u="sng" dirty="0">
              <a:cs typeface="Calibri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6CBD3-5456-AACE-EABD-6A69C8DB41E7}"/>
              </a:ext>
            </a:extLst>
          </p:cNvPr>
          <p:cNvSpPr txBox="1"/>
          <p:nvPr/>
        </p:nvSpPr>
        <p:spPr>
          <a:xfrm>
            <a:off x="896112" y="2192310"/>
            <a:ext cx="105796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Vehicles (EVs) are emerging as a sustainable alternative to conventional fuel-based transportation, offering advantages like reduced emissions and lower running costs. However, their adoption is slowed by challenges in charging infrastructure. Most EVs depend on grid-based charging, which increases demand on power networks and raises operational costs. Solar-based charging is eco-friendly but limited by weather and time of day, while large-scale alternatives often remain expensive to implement. Due to these limitations, only a moderate ratio of people prefer EVs compared to traditional vehicles, despite their long-term benefits. This project explores a hybrid renewable approach to overcome these barriers and support wider EV adoption.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F71694-1071-2738-BFE4-989A80533F5F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tx1"/>
          </a:solidFill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50D6FB-E69D-7241-7DB5-5E3B0E5DDCFB}"/>
              </a:ext>
            </a:extLst>
          </p:cNvPr>
          <p:cNvSpPr/>
          <p:nvPr/>
        </p:nvSpPr>
        <p:spPr>
          <a:xfrm>
            <a:off x="11793884" y="0"/>
            <a:ext cx="398116" cy="6858000"/>
          </a:xfrm>
          <a:prstGeom prst="rect">
            <a:avLst/>
          </a:prstGeom>
          <a:solidFill>
            <a:schemeClr val="tx1"/>
          </a:solidFill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761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7F7B83-20CE-D956-CE15-12008E66D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353219-CF01-4E95-2486-76095E23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084" y="237109"/>
            <a:ext cx="3944998" cy="1325563"/>
          </a:xfrm>
        </p:spPr>
        <p:txBody>
          <a:bodyPr/>
          <a:lstStyle/>
          <a:p>
            <a:pPr algn="ctr"/>
            <a:r>
              <a:rPr lang="en-US" sz="4000" b="1" u="sng" dirty="0">
                <a:latin typeface="+mn-lt"/>
              </a:rPr>
              <a:t>INTRODUCTION</a:t>
            </a:r>
            <a:endParaRPr lang="en-IN" b="1" u="sng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25EA7-4E40-4616-4119-14DDEAC150E0}"/>
              </a:ext>
            </a:extLst>
          </p:cNvPr>
          <p:cNvSpPr txBox="1"/>
          <p:nvPr/>
        </p:nvSpPr>
        <p:spPr>
          <a:xfrm>
            <a:off x="871402" y="1958584"/>
            <a:ext cx="105003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Vehicles (EVs) are vital for a sustainable future, but their charging infrastructure faces challenges such as high costs, grid dependency, and unreliable renewable solutions. Solar energy alone is intermittent, and road-integrated chargers are expensive to deploy.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Piezo-Solar Smart Pad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solar panels and piezoelectric sensors to harvest energy from sunlight and vehicle movement. An ESP32-based IoT system monitors and manages charging, while AI-powered analytics ensure safety and efficiency.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a cost-effective, modular, and sustainable EV charging solution suitable for campuses, depots, and smart cities.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5BE6A3-B251-255D-96AD-130D7D83D7B0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tx1"/>
          </a:solidFill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BAE163-9111-1D30-C462-DFD58648860A}"/>
              </a:ext>
            </a:extLst>
          </p:cNvPr>
          <p:cNvSpPr/>
          <p:nvPr/>
        </p:nvSpPr>
        <p:spPr>
          <a:xfrm>
            <a:off x="11793884" y="0"/>
            <a:ext cx="398116" cy="6858000"/>
          </a:xfrm>
          <a:prstGeom prst="rect">
            <a:avLst/>
          </a:prstGeom>
          <a:solidFill>
            <a:schemeClr val="tx1"/>
          </a:solidFill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908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Professional Background PowerPoint Template">
            <a:extLst>
              <a:ext uri="{FF2B5EF4-FFF2-40B4-BE49-F238E27FC236}">
                <a16:creationId xmlns:a16="http://schemas.microsoft.com/office/drawing/2014/main" id="{AA24E460-5390-5F4D-1067-7F9C350EA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A2AB66-CBDC-4073-8F86-EC41F181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912" y="163957"/>
            <a:ext cx="2353056" cy="686435"/>
          </a:xfrm>
        </p:spPr>
        <p:txBody>
          <a:bodyPr>
            <a:normAutofit/>
          </a:bodyPr>
          <a:lstStyle/>
          <a:p>
            <a:r>
              <a:rPr lang="en-IN" altLang="en-US" sz="4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endParaRPr lang="en-IN" sz="4000" b="1" u="sng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ABE1733-8FD5-5DAA-DDFC-50D6045FC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41" y="2324010"/>
            <a:ext cx="5256214" cy="31700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smart pads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solar panels and piezoelectric sensors.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wheel-embedded receiver module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safe energy transfer.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IoT monitoring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safety cutoffs.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+ SQL backend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anomaly detection and billing.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visualization and predictive maintenance.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E1E921-7A6F-4F8D-05CB-6FAF6C0352A7}"/>
              </a:ext>
            </a:extLst>
          </p:cNvPr>
          <p:cNvSpPr txBox="1">
            <a:spLocks/>
          </p:cNvSpPr>
          <p:nvPr/>
        </p:nvSpPr>
        <p:spPr>
          <a:xfrm>
            <a:off x="7498080" y="127381"/>
            <a:ext cx="3413760" cy="723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u="sng" dirty="0">
                <a:latin typeface="+mn-lt"/>
              </a:rPr>
              <a:t>Scope of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11FADC-952B-9A29-32A2-BAD45FEBAE8F}"/>
              </a:ext>
            </a:extLst>
          </p:cNvPr>
          <p:cNvSpPr txBox="1"/>
          <p:nvPr/>
        </p:nvSpPr>
        <p:spPr>
          <a:xfrm>
            <a:off x="6004415" y="1837944"/>
            <a:ext cx="5701222" cy="435125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-1270" algn="just">
              <a:lnSpc>
                <a:spcPct val="107000"/>
              </a:lnSpc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project focuses on developing a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 charging hub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hybrid smart pads and wheel-embedded receivers. </a:t>
            </a:r>
          </a:p>
          <a:p>
            <a:pPr indent="-1270" algn="just">
              <a:lnSpc>
                <a:spcPct val="107000"/>
              </a:lnSpc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Deliverables include:</a:t>
            </a:r>
            <a:endParaRPr lang="en-IN" sz="2000" dirty="0">
              <a:effectLst/>
              <a:latin typeface="Times New Roman" panose="02020603050405020304" pitchFamily="18" charset="0"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renewable energy harvesting pad.</a:t>
            </a:r>
            <a:endParaRPr lang="en-I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IoT-based monitoring and control.</a:t>
            </a:r>
            <a:endParaRPr lang="en-I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Secure authentication for vehicles (NFC).</a:t>
            </a:r>
            <a:endParaRPr lang="en-I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anomaly detection for predictive safety.</a:t>
            </a:r>
            <a:endParaRPr lang="en-I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Analytics dashboards and automated billing.</a:t>
            </a:r>
          </a:p>
          <a:p>
            <a:pPr lvl="0" algn="just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I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 indent="-1270" algn="just">
              <a:lnSpc>
                <a:spcPct val="107000"/>
              </a:lnSpc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scope is limited to </a:t>
            </a:r>
            <a:r>
              <a:rPr 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small EV/e-bike scale demonstrations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with large-scale deployment considered future work.</a:t>
            </a:r>
            <a:endParaRPr lang="en-IN" sz="2000" dirty="0">
              <a:effectLst/>
              <a:latin typeface="Times New Roman" panose="02020603050405020304" pitchFamily="18" charset="0"/>
              <a:ea typeface="Times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7AB405-A49A-0C82-D780-54B74D232868}"/>
              </a:ext>
            </a:extLst>
          </p:cNvPr>
          <p:cNvSpPr/>
          <p:nvPr/>
        </p:nvSpPr>
        <p:spPr>
          <a:xfrm>
            <a:off x="5797297" y="370332"/>
            <a:ext cx="118872" cy="61173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AEAE70-F637-6791-34E1-33EC34E17621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tx1"/>
          </a:solidFill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90A42-E25A-968B-673D-A33A9D1E037C}"/>
              </a:ext>
            </a:extLst>
          </p:cNvPr>
          <p:cNvSpPr/>
          <p:nvPr/>
        </p:nvSpPr>
        <p:spPr>
          <a:xfrm>
            <a:off x="11793884" y="0"/>
            <a:ext cx="398116" cy="6858000"/>
          </a:xfrm>
          <a:prstGeom prst="rect">
            <a:avLst/>
          </a:prstGeom>
          <a:solidFill>
            <a:schemeClr val="tx1"/>
          </a:solidFill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577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021676-2FBA-9ACD-0836-7209E38F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57EEBA-0B22-32FA-7640-71AC262ACC2F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0E00B-F1F8-DC94-F9CB-679BBE01F58A}"/>
              </a:ext>
            </a:extLst>
          </p:cNvPr>
          <p:cNvSpPr/>
          <p:nvPr/>
        </p:nvSpPr>
        <p:spPr>
          <a:xfrm>
            <a:off x="11895483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53219-CF01-4E95-2486-76095E23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u="sng" dirty="0">
                <a:latin typeface="+mn-lt"/>
              </a:rPr>
              <a:t>PROBLEM</a:t>
            </a:r>
            <a:r>
              <a:rPr lang="en-US" b="1" u="sng" dirty="0"/>
              <a:t> </a:t>
            </a:r>
            <a:r>
              <a:rPr lang="en-US" sz="4000" b="1" u="sng" dirty="0">
                <a:latin typeface="+mn-lt"/>
              </a:rPr>
              <a:t>STATEMENT</a:t>
            </a:r>
            <a:endParaRPr lang="en-IN" b="1" u="sng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D1C5B-385B-BD85-AA02-231E76EE89DD}"/>
              </a:ext>
            </a:extLst>
          </p:cNvPr>
          <p:cNvSpPr txBox="1"/>
          <p:nvPr/>
        </p:nvSpPr>
        <p:spPr>
          <a:xfrm>
            <a:off x="1303020" y="1690688"/>
            <a:ext cx="9404604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 charging faces issues like high costs, grid dependency, and limited reliability. Solar-only solutions are weather-dependent, and road-integrated systems are expensive. A cost-effective, modular, and sustainable hybrid charging system is needed for continuous, reliable, and renewable energy-based EV charging.</a:t>
            </a:r>
          </a:p>
          <a:p>
            <a:pPr algn="just">
              <a:lnSpc>
                <a:spcPts val="3825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dependency on grid electricity increases cost and reduces sustainability.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power alone is unreliable during cloudy weather or nighttime.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Road-integrated charging solutions are costly and hard to deploy at scale.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retrofit-compatible and modular systems limits adoption.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077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BF2DC60-F1BA-5EED-D4B5-45751D8A2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57EEBA-0B22-32FA-7640-71AC262ACC2F}"/>
              </a:ext>
            </a:extLst>
          </p:cNvPr>
          <p:cNvSpPr/>
          <p:nvPr/>
        </p:nvSpPr>
        <p:spPr>
          <a:xfrm>
            <a:off x="0" y="829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0E00B-F1F8-DC94-F9CB-679BBE01F58A}"/>
              </a:ext>
            </a:extLst>
          </p:cNvPr>
          <p:cNvSpPr/>
          <p:nvPr/>
        </p:nvSpPr>
        <p:spPr>
          <a:xfrm>
            <a:off x="11885900" y="829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53219-CF01-4E95-2486-76095E23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189" y="203263"/>
            <a:ext cx="5407152" cy="528341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of the Art-work</a:t>
            </a:r>
            <a:endParaRPr lang="en-IN" sz="4000" b="1" u="sng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BE7564-33C4-8250-261D-1E86CCE9B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937061"/>
              </p:ext>
            </p:extLst>
          </p:nvPr>
        </p:nvGraphicFramePr>
        <p:xfrm>
          <a:off x="384048" y="819940"/>
          <a:ext cx="11384280" cy="4477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300631">
                  <a:extLst>
                    <a:ext uri="{9D8B030D-6E8A-4147-A177-3AD203B41FA5}">
                      <a16:colId xmlns:a16="http://schemas.microsoft.com/office/drawing/2014/main" val="1434645043"/>
                    </a:ext>
                  </a:extLst>
                </a:gridCol>
                <a:gridCol w="1932612">
                  <a:extLst>
                    <a:ext uri="{9D8B030D-6E8A-4147-A177-3AD203B41FA5}">
                      <a16:colId xmlns:a16="http://schemas.microsoft.com/office/drawing/2014/main" val="2594072998"/>
                    </a:ext>
                  </a:extLst>
                </a:gridCol>
                <a:gridCol w="1957227">
                  <a:extLst>
                    <a:ext uri="{9D8B030D-6E8A-4147-A177-3AD203B41FA5}">
                      <a16:colId xmlns:a16="http://schemas.microsoft.com/office/drawing/2014/main" val="2133811490"/>
                    </a:ext>
                  </a:extLst>
                </a:gridCol>
                <a:gridCol w="2677842">
                  <a:extLst>
                    <a:ext uri="{9D8B030D-6E8A-4147-A177-3AD203B41FA5}">
                      <a16:colId xmlns:a16="http://schemas.microsoft.com/office/drawing/2014/main" val="2635398879"/>
                    </a:ext>
                  </a:extLst>
                </a:gridCol>
                <a:gridCol w="2515968">
                  <a:extLst>
                    <a:ext uri="{9D8B030D-6E8A-4147-A177-3AD203B41FA5}">
                      <a16:colId xmlns:a16="http://schemas.microsoft.com/office/drawing/2014/main" val="4233776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Author’s Name / Paper Title</a:t>
                      </a:r>
                      <a:endParaRPr lang="en-IN" sz="1400" dirty="0"/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Conference / Journal Name and Year</a:t>
                      </a:r>
                      <a:endParaRPr lang="en-US" sz="1400" dirty="0"/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Technology</a:t>
                      </a:r>
                      <a:endParaRPr lang="en-IN" sz="1400" dirty="0"/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Results shared by author</a:t>
                      </a:r>
                      <a:endParaRPr lang="en-IN" sz="1400" dirty="0"/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Insights</a:t>
                      </a:r>
                      <a:endParaRPr lang="en-IN" sz="1400" dirty="0"/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24068294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DEBD08-F5B6-7AF8-1E2A-E166B69F4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594495"/>
              </p:ext>
            </p:extLst>
          </p:nvPr>
        </p:nvGraphicFramePr>
        <p:xfrm>
          <a:off x="384048" y="1267680"/>
          <a:ext cx="11384280" cy="2154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439565608"/>
                    </a:ext>
                  </a:extLst>
                </a:gridCol>
                <a:gridCol w="1934096">
                  <a:extLst>
                    <a:ext uri="{9D8B030D-6E8A-4147-A177-3AD203B41FA5}">
                      <a16:colId xmlns:a16="http://schemas.microsoft.com/office/drawing/2014/main" val="2194587371"/>
                    </a:ext>
                  </a:extLst>
                </a:gridCol>
                <a:gridCol w="1957226">
                  <a:extLst>
                    <a:ext uri="{9D8B030D-6E8A-4147-A177-3AD203B41FA5}">
                      <a16:colId xmlns:a16="http://schemas.microsoft.com/office/drawing/2014/main" val="3473518867"/>
                    </a:ext>
                  </a:extLst>
                </a:gridCol>
                <a:gridCol w="2686738">
                  <a:extLst>
                    <a:ext uri="{9D8B030D-6E8A-4147-A177-3AD203B41FA5}">
                      <a16:colId xmlns:a16="http://schemas.microsoft.com/office/drawing/2014/main" val="506343632"/>
                    </a:ext>
                  </a:extLst>
                </a:gridCol>
                <a:gridCol w="2505590">
                  <a:extLst>
                    <a:ext uri="{9D8B030D-6E8A-4147-A177-3AD203B41FA5}">
                      <a16:colId xmlns:a16="http://schemas.microsoft.com/office/drawing/2014/main" val="1582061864"/>
                    </a:ext>
                  </a:extLst>
                </a:gridCol>
              </a:tblGrid>
              <a:tr h="19412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Ramakrishnan, D. Savio A., B.C., N. Rajamanickam, H. Kotb, A.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Elrashidi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Nureldeen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IN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“A Comprehensive Review on Efficiency Enhancement of Wireless Charging System for the Electric Vehicle Applications”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IEEE Access, Vol. 12, Institute of Electrical and Electronics Engineers (IEEE), USA, 2024</a:t>
                      </a:r>
                      <a:endParaRPr lang="nl-NL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Efficiency Enhancement in WPT, Impedance Matching, Compensation, Multi-Coil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Surveyed factors affecting PTE (coil geometry, coupling, misalignment). </a:t>
                      </a:r>
                      <a:b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Discussed active/passive impedance matching and compensation methods (SS, SP, LCC, LCL). </a:t>
                      </a:r>
                      <a:b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Multi-coil and multi-transmitter prototypes achieved &gt;90–95% efficiency.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Impedance matching and hybrid compensation are key for efficiency.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Multi-coil systems improve misalignment tolerance.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Suggests research on dynamic charging, interoperability, and cost-effective designs</a:t>
                      </a: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317779753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F6AF55-1E02-918C-7FD4-2E28C02A9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78422"/>
              </p:ext>
            </p:extLst>
          </p:nvPr>
        </p:nvGraphicFramePr>
        <p:xfrm>
          <a:off x="384048" y="3422300"/>
          <a:ext cx="11375136" cy="16004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2133854080"/>
                    </a:ext>
                  </a:extLst>
                </a:gridCol>
                <a:gridCol w="1934096">
                  <a:extLst>
                    <a:ext uri="{9D8B030D-6E8A-4147-A177-3AD203B41FA5}">
                      <a16:colId xmlns:a16="http://schemas.microsoft.com/office/drawing/2014/main" val="2321688677"/>
                    </a:ext>
                  </a:extLst>
                </a:gridCol>
                <a:gridCol w="1957226">
                  <a:extLst>
                    <a:ext uri="{9D8B030D-6E8A-4147-A177-3AD203B41FA5}">
                      <a16:colId xmlns:a16="http://schemas.microsoft.com/office/drawing/2014/main" val="1999969124"/>
                    </a:ext>
                  </a:extLst>
                </a:gridCol>
                <a:gridCol w="2686738">
                  <a:extLst>
                    <a:ext uri="{9D8B030D-6E8A-4147-A177-3AD203B41FA5}">
                      <a16:colId xmlns:a16="http://schemas.microsoft.com/office/drawing/2014/main" val="1581392698"/>
                    </a:ext>
                  </a:extLst>
                </a:gridCol>
                <a:gridCol w="2496446">
                  <a:extLst>
                    <a:ext uri="{9D8B030D-6E8A-4147-A177-3AD203B41FA5}">
                      <a16:colId xmlns:a16="http://schemas.microsoft.com/office/drawing/2014/main" val="1635154614"/>
                    </a:ext>
                  </a:extLst>
                </a:gridCol>
              </a:tblGrid>
              <a:tr h="160049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C.S.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Banothu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S.R. Gorantla, R.V.B.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Attuluri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G.R.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Evuri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IN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“Impacts of Wireless Charging System for Electric Vehicles on Power Grid”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e-Prime – Advances in Electrical Engineering, Electronics and Energy, Elsevier Ltd., Amsterdam, Netherlands, 2024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Fast Charging (WFC) &amp; Grid Integration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Analyzed fast charging (&gt;20 kW) on MV distribution feeders in India.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Identified voltage swings, harmonic distortion, and instability.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Proposed RES integration and EV aggregators for stability.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Highlights grid-level impacts of WFC.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Suggests coordinated planning, V2G, and RES as mitigation strategies.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46688677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5E9250-8280-002E-5FED-C01F074F3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976295"/>
              </p:ext>
            </p:extLst>
          </p:nvPr>
        </p:nvGraphicFramePr>
        <p:xfrm>
          <a:off x="384047" y="5022794"/>
          <a:ext cx="11375137" cy="16489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1832513316"/>
                    </a:ext>
                  </a:extLst>
                </a:gridCol>
                <a:gridCol w="1934096">
                  <a:extLst>
                    <a:ext uri="{9D8B030D-6E8A-4147-A177-3AD203B41FA5}">
                      <a16:colId xmlns:a16="http://schemas.microsoft.com/office/drawing/2014/main" val="1916702937"/>
                    </a:ext>
                  </a:extLst>
                </a:gridCol>
                <a:gridCol w="1957226">
                  <a:extLst>
                    <a:ext uri="{9D8B030D-6E8A-4147-A177-3AD203B41FA5}">
                      <a16:colId xmlns:a16="http://schemas.microsoft.com/office/drawing/2014/main" val="3878076902"/>
                    </a:ext>
                  </a:extLst>
                </a:gridCol>
                <a:gridCol w="2686738">
                  <a:extLst>
                    <a:ext uri="{9D8B030D-6E8A-4147-A177-3AD203B41FA5}">
                      <a16:colId xmlns:a16="http://schemas.microsoft.com/office/drawing/2014/main" val="2331961208"/>
                    </a:ext>
                  </a:extLst>
                </a:gridCol>
                <a:gridCol w="2496447">
                  <a:extLst>
                    <a:ext uri="{9D8B030D-6E8A-4147-A177-3AD203B41FA5}">
                      <a16:colId xmlns:a16="http://schemas.microsoft.com/office/drawing/2014/main" val="3830801746"/>
                    </a:ext>
                  </a:extLst>
                </a:gridCol>
              </a:tblGrid>
              <a:tr h="16489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Kumar, R. Sridhar, et al. – </a:t>
                      </a:r>
                      <a:r>
                        <a:rPr lang="en-IN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“Hybrid Compensation Based Efficient Wireless Charging System Design With Solar Photovoltaic Interface Toward Sustainable Transportation”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IEEE Transactions on Transportation Electrification, Institute of Electrical and Electronics Engineers (IEEE), USA, 2024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Compensation &amp; Solar-PV Integrated WPT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•Proposed hybrid LCC-S compensation with PV interface.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Achieved higher efficiency and stable operation under variable load.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Demonstrated renewable-powered EV charging.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Integration of PV with WPT reduces grid dependency.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Hybrid compensation boosts efficiency and reliability.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Supports sustainable EV transport.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92407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819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F70143-203E-F753-CB7B-549F237F3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6FF94F-C557-F69C-3E48-CB9B36DA6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949046"/>
              </p:ext>
            </p:extLst>
          </p:nvPr>
        </p:nvGraphicFramePr>
        <p:xfrm>
          <a:off x="347472" y="4576572"/>
          <a:ext cx="11448288" cy="20939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1571">
                  <a:extLst>
                    <a:ext uri="{9D8B030D-6E8A-4147-A177-3AD203B41FA5}">
                      <a16:colId xmlns:a16="http://schemas.microsoft.com/office/drawing/2014/main" val="3788930059"/>
                    </a:ext>
                  </a:extLst>
                </a:gridCol>
                <a:gridCol w="1987906">
                  <a:extLst>
                    <a:ext uri="{9D8B030D-6E8A-4147-A177-3AD203B41FA5}">
                      <a16:colId xmlns:a16="http://schemas.microsoft.com/office/drawing/2014/main" val="135631787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444534580"/>
                    </a:ext>
                  </a:extLst>
                </a:gridCol>
                <a:gridCol w="2761488">
                  <a:extLst>
                    <a:ext uri="{9D8B030D-6E8A-4147-A177-3AD203B41FA5}">
                      <a16:colId xmlns:a16="http://schemas.microsoft.com/office/drawing/2014/main" val="3118430949"/>
                    </a:ext>
                  </a:extLst>
                </a:gridCol>
                <a:gridCol w="2485643">
                  <a:extLst>
                    <a:ext uri="{9D8B030D-6E8A-4147-A177-3AD203B41FA5}">
                      <a16:colId xmlns:a16="http://schemas.microsoft.com/office/drawing/2014/main" val="2504276687"/>
                    </a:ext>
                  </a:extLst>
                </a:gridCol>
              </a:tblGrid>
              <a:tr h="20939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Ramadoss, B. Alekhya, G. Abinaya, et al., </a:t>
                      </a: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“Research Insights on Recent Power Converter Topologies and Control Strategies for Wireless EV Chargers”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 IEEE International Students’ Conference on Electrical, Electronics and Computer Science (SCEECS), Bhopal, India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Converters, Control Strategies, WPT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Reviewed DC-DC, AC-DC, multilevel converters.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Highlighted control methods (PI, sliding-mode, MPC, PWM).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Trade-offs in efficiency vs. complexity.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Provides taxonomy of converters.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Emphasizes resonant, soft-switching, and adaptive controls.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23875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2D25B3-13EB-1258-0F41-6C3530752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692459"/>
              </p:ext>
            </p:extLst>
          </p:nvPr>
        </p:nvGraphicFramePr>
        <p:xfrm>
          <a:off x="347472" y="2446020"/>
          <a:ext cx="11448288" cy="2130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1571">
                  <a:extLst>
                    <a:ext uri="{9D8B030D-6E8A-4147-A177-3AD203B41FA5}">
                      <a16:colId xmlns:a16="http://schemas.microsoft.com/office/drawing/2014/main" val="2396634167"/>
                    </a:ext>
                  </a:extLst>
                </a:gridCol>
                <a:gridCol w="1987906">
                  <a:extLst>
                    <a:ext uri="{9D8B030D-6E8A-4147-A177-3AD203B41FA5}">
                      <a16:colId xmlns:a16="http://schemas.microsoft.com/office/drawing/2014/main" val="211625727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969263099"/>
                    </a:ext>
                  </a:extLst>
                </a:gridCol>
                <a:gridCol w="2761488">
                  <a:extLst>
                    <a:ext uri="{9D8B030D-6E8A-4147-A177-3AD203B41FA5}">
                      <a16:colId xmlns:a16="http://schemas.microsoft.com/office/drawing/2014/main" val="1544007402"/>
                    </a:ext>
                  </a:extLst>
                </a:gridCol>
                <a:gridCol w="2485643">
                  <a:extLst>
                    <a:ext uri="{9D8B030D-6E8A-4147-A177-3AD203B41FA5}">
                      <a16:colId xmlns:a16="http://schemas.microsoft.com/office/drawing/2014/main" val="1827964594"/>
                    </a:ext>
                  </a:extLst>
                </a:gridCol>
              </a:tblGrid>
              <a:tr h="213055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Sagar, A. Kashyap, M. Azimi Nasab, S. Padmanaban, M.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Bertoluzzo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 Kumar, F. Blaabjerg – </a:t>
                      </a:r>
                      <a:r>
                        <a:rPr lang="en-IN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“A Comprehensive Review of the Recent Development of Wireless Power Transfer Technologies for EV Charging Systems”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 IEEE Access Journal, Institute of Electrical and Electronics Engineers (IEEE), USA, 2023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Power Transfer (WPT)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Classified WPT: inductive, capacitive, resonant.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Showed magnetic resonance + shielding improved PTE.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CPT achieved 88% efficiency at 590 W.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Identified gaps: EMF safety, interoperability, misalignment tolerance.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CPT is a low-cost alternative to IPT.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19744474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942F46-0513-C689-472F-9F44035D2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369369"/>
              </p:ext>
            </p:extLst>
          </p:nvPr>
        </p:nvGraphicFramePr>
        <p:xfrm>
          <a:off x="356616" y="228600"/>
          <a:ext cx="11439144" cy="2217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21456152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3140156246"/>
                    </a:ext>
                  </a:extLst>
                </a:gridCol>
                <a:gridCol w="2014666">
                  <a:extLst>
                    <a:ext uri="{9D8B030D-6E8A-4147-A177-3AD203B41FA5}">
                      <a16:colId xmlns:a16="http://schemas.microsoft.com/office/drawing/2014/main" val="3188813082"/>
                    </a:ext>
                  </a:extLst>
                </a:gridCol>
                <a:gridCol w="2761861">
                  <a:extLst>
                    <a:ext uri="{9D8B030D-6E8A-4147-A177-3AD203B41FA5}">
                      <a16:colId xmlns:a16="http://schemas.microsoft.com/office/drawing/2014/main" val="2258362572"/>
                    </a:ext>
                  </a:extLst>
                </a:gridCol>
                <a:gridCol w="2483809">
                  <a:extLst>
                    <a:ext uri="{9D8B030D-6E8A-4147-A177-3AD203B41FA5}">
                      <a16:colId xmlns:a16="http://schemas.microsoft.com/office/drawing/2014/main" val="1009826062"/>
                    </a:ext>
                  </a:extLst>
                </a:gridCol>
              </a:tblGrid>
              <a:tr h="221742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Rahul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N. Mehta, et al., </a:t>
                      </a:r>
                      <a:r>
                        <a:rPr lang="en-IN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“Model-Free Predictive Control and Modified Multi-Phase Shift PWM Technique for a Semi-Dynamic Wireless EV Charging System”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 International Conference on Renewable Energy and Power Electronics (REPE), Singapore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Model-Free Predictive Control (MFPC), PWM, Semi-Dynamic WPT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Proposed MFPC + modified PWM achieving 24–28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fast response. </a:t>
                      </a:r>
                      <a:b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Ensured constant voltage, ZVS/ZCS operation. </a:t>
                      </a:r>
                      <a:b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Experimental prototype validated for semi-dynamic lanes.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Outperforms conventional MPC/PI.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Enables communication-free frequency tuning.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Practical for semi-dynamic charging pads.</a:t>
                      </a: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277008671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2546CDD-F4C8-9D29-7A0B-0DA49B662B98}"/>
              </a:ext>
            </a:extLst>
          </p:cNvPr>
          <p:cNvSpPr/>
          <p:nvPr/>
        </p:nvSpPr>
        <p:spPr>
          <a:xfrm>
            <a:off x="0" y="708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3B6654-2B9F-EA06-6772-1E0ABC2D93AB}"/>
              </a:ext>
            </a:extLst>
          </p:cNvPr>
          <p:cNvSpPr/>
          <p:nvPr/>
        </p:nvSpPr>
        <p:spPr>
          <a:xfrm>
            <a:off x="1188720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520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665B9D-C87B-B8B3-8673-35D862A4A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F4B270-0D63-9229-C25B-98C4CDCA4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673720"/>
              </p:ext>
            </p:extLst>
          </p:nvPr>
        </p:nvGraphicFramePr>
        <p:xfrm>
          <a:off x="401216" y="134450"/>
          <a:ext cx="11367112" cy="2817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0568">
                  <a:extLst>
                    <a:ext uri="{9D8B030D-6E8A-4147-A177-3AD203B41FA5}">
                      <a16:colId xmlns:a16="http://schemas.microsoft.com/office/drawing/2014/main" val="2477237091"/>
                    </a:ext>
                  </a:extLst>
                </a:gridCol>
                <a:gridCol w="1986370">
                  <a:extLst>
                    <a:ext uri="{9D8B030D-6E8A-4147-A177-3AD203B41FA5}">
                      <a16:colId xmlns:a16="http://schemas.microsoft.com/office/drawing/2014/main" val="4172170619"/>
                    </a:ext>
                  </a:extLst>
                </a:gridCol>
                <a:gridCol w="2010124">
                  <a:extLst>
                    <a:ext uri="{9D8B030D-6E8A-4147-A177-3AD203B41FA5}">
                      <a16:colId xmlns:a16="http://schemas.microsoft.com/office/drawing/2014/main" val="158783197"/>
                    </a:ext>
                  </a:extLst>
                </a:gridCol>
                <a:gridCol w="2759353">
                  <a:extLst>
                    <a:ext uri="{9D8B030D-6E8A-4147-A177-3AD203B41FA5}">
                      <a16:colId xmlns:a16="http://schemas.microsoft.com/office/drawing/2014/main" val="876402456"/>
                    </a:ext>
                  </a:extLst>
                </a:gridCol>
                <a:gridCol w="2460697">
                  <a:extLst>
                    <a:ext uri="{9D8B030D-6E8A-4147-A177-3AD203B41FA5}">
                      <a16:colId xmlns:a16="http://schemas.microsoft.com/office/drawing/2014/main" val="3195711955"/>
                    </a:ext>
                  </a:extLst>
                </a:gridCol>
              </a:tblGrid>
              <a:tr h="13201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 Shahin, M. Islam, et al., </a:t>
                      </a: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“A Comprehensive Analysis Integrating Renewable Energy Sources with Wire/Wireless EV Charging Systems”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 International Conference on Intelligent Communication and Computational Techniques (ICCT), Jaipur, India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Renewable Energy Integration, PV + WPT, Compensation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Analyzed PV integration with wired/wireless charging.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Recommended SS compensation, MPPT, hybrid PV–battery. </a:t>
                      </a:r>
                      <a:b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Showed RES reduces grid stress.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Demonstrates PV-powered EV stations. </a:t>
                      </a:r>
                    </a:p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Highlights compensation topologies for efficiency.</a:t>
                      </a: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51543909"/>
                  </a:ext>
                </a:extLst>
              </a:tr>
              <a:tr h="14971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Saklani, A. Singh, et al., </a:t>
                      </a: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“Navigating the Challenges of EV Integration and Demand-Side Management for India’s Sustainable EV Growth”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 International Conference on Power, Energy and Smart Grid (PESG), India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Demand-Side Management (DSM), Smart Grid, EV Integration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Presented DSM models: time-of-use pricing, V2G, RES coordination.</a:t>
                      </a:r>
                    </a:p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Proposed India-specific load frameworks.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Underlines DSM’s role in developing economies.</a:t>
                      </a:r>
                    </a:p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Policy-driven adoption critical in India.</a:t>
                      </a: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273175301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A65197-FEBA-D8A4-5AF0-0CC614529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558233"/>
              </p:ext>
            </p:extLst>
          </p:nvPr>
        </p:nvGraphicFramePr>
        <p:xfrm>
          <a:off x="391886" y="2953512"/>
          <a:ext cx="11376442" cy="2072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0146">
                  <a:extLst>
                    <a:ext uri="{9D8B030D-6E8A-4147-A177-3AD203B41FA5}">
                      <a16:colId xmlns:a16="http://schemas.microsoft.com/office/drawing/2014/main" val="221456152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314015624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3188813082"/>
                    </a:ext>
                  </a:extLst>
                </a:gridCol>
                <a:gridCol w="2752344">
                  <a:extLst>
                    <a:ext uri="{9D8B030D-6E8A-4147-A177-3AD203B41FA5}">
                      <a16:colId xmlns:a16="http://schemas.microsoft.com/office/drawing/2014/main" val="225836257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1009826062"/>
                    </a:ext>
                  </a:extLst>
                </a:gridCol>
              </a:tblGrid>
              <a:tr h="20729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Shanmugam, R.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Narayanamoorthi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P. Vishnuram, M. Bajaj, K.M.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Aboras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P. Thakur,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Kitmo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IN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“A Systematic Review of Dynamic Wireless Charging System for Electric Transportation”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 IEEE Access Journal, Institute of Electrical and Electronics Engineers (IEEE), USA, 2022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Wireless Charging (DWC)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Reviewed couplers, compensation networks, inverter topologies. </a:t>
                      </a:r>
                    </a:p>
                    <a:p>
                      <a:pPr algn="just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Demos: KAIST OLEV buses, ORNL 120 kW, KRRI 1 MW train. • Efficiency up to 97%.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DWC reduces battery size and extends EV range. </a:t>
                      </a:r>
                    </a:p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Challenges: misalignment, instability, renewable integration.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77008671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DF2B84-23AE-B1FB-B347-372918D84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101945"/>
              </p:ext>
            </p:extLst>
          </p:nvPr>
        </p:nvGraphicFramePr>
        <p:xfrm>
          <a:off x="382555" y="5026490"/>
          <a:ext cx="11385773" cy="16355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477">
                  <a:extLst>
                    <a:ext uri="{9D8B030D-6E8A-4147-A177-3AD203B41FA5}">
                      <a16:colId xmlns:a16="http://schemas.microsoft.com/office/drawing/2014/main" val="382437047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449438217"/>
                    </a:ext>
                  </a:extLst>
                </a:gridCol>
                <a:gridCol w="2002536">
                  <a:extLst>
                    <a:ext uri="{9D8B030D-6E8A-4147-A177-3AD203B41FA5}">
                      <a16:colId xmlns:a16="http://schemas.microsoft.com/office/drawing/2014/main" val="3219168876"/>
                    </a:ext>
                  </a:extLst>
                </a:gridCol>
                <a:gridCol w="2752344">
                  <a:extLst>
                    <a:ext uri="{9D8B030D-6E8A-4147-A177-3AD203B41FA5}">
                      <a16:colId xmlns:a16="http://schemas.microsoft.com/office/drawing/2014/main" val="488671505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1140468615"/>
                    </a:ext>
                  </a:extLst>
                </a:gridCol>
              </a:tblGrid>
              <a:tr h="16355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Mahesh, B. Chokkalingam, and L. </a:t>
                      </a:r>
                      <a:r>
                        <a:rPr lang="en-US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Mihet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-Popa,</a:t>
                      </a:r>
                      <a:b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“Inductive Wireless Power Transfer Charging for Electric Vehicles—A Review,”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nl-NL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 IEEE Access, Vol. 9, IEEE, USA, 2021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Model-Free Predictive Control (MFPC), PWM, Semi-Dynamic WPT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Reviewed early IPT methods for EVs. </a:t>
                      </a:r>
                    </a:p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Discussed SS, SP, LCC, and resonant compensation. </a:t>
                      </a:r>
                    </a:p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Addressed coil design, misalignment, and EMI safety.</a:t>
                      </a:r>
                    </a:p>
                  </a:txBody>
                  <a:tcPr marL="21021" marR="21021" marT="10510" marB="1051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Provided foundation for later WPT/DWC works. </a:t>
                      </a:r>
                    </a:p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Emphasized efficiency vs. coil misalignment trade-off. </a:t>
                      </a:r>
                    </a:p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Highlighted safety and standardization needs.</a:t>
                      </a:r>
                    </a:p>
                  </a:txBody>
                  <a:tcPr marL="21021" marR="21021" marT="10510" marB="10510" anchor="ctr"/>
                </a:tc>
                <a:extLst>
                  <a:ext uri="{0D108BD9-81ED-4DB2-BD59-A6C34878D82A}">
                    <a16:rowId xmlns:a16="http://schemas.microsoft.com/office/drawing/2014/main" val="6182845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06C971D-16CA-F42F-C169-B49A9D39A4D5}"/>
              </a:ext>
            </a:extLst>
          </p:cNvPr>
          <p:cNvSpPr/>
          <p:nvPr/>
        </p:nvSpPr>
        <p:spPr>
          <a:xfrm>
            <a:off x="1188720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F75BB7-6352-C18E-FDA9-ED7199ED5BA7}"/>
              </a:ext>
            </a:extLst>
          </p:cNvPr>
          <p:cNvSpPr/>
          <p:nvPr/>
        </p:nvSpPr>
        <p:spPr>
          <a:xfrm>
            <a:off x="0" y="708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616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476800-AA1B-EC24-FD57-B262A0EEB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9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57EEBA-0B22-32FA-7640-71AC262ACC2F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0E00B-F1F8-DC94-F9CB-679BBE01F58A}"/>
              </a:ext>
            </a:extLst>
          </p:cNvPr>
          <p:cNvSpPr/>
          <p:nvPr/>
        </p:nvSpPr>
        <p:spPr>
          <a:xfrm>
            <a:off x="12031317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53219-CF01-4E95-2486-76095E23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566" y="419989"/>
            <a:ext cx="4219956" cy="640715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>
                <a:latin typeface="+mn-lt"/>
              </a:rPr>
              <a:t>Proposed Solution</a:t>
            </a:r>
            <a:endParaRPr lang="en-IN" sz="4000" b="1" u="sng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EBAD9B-5AF8-F06A-0C97-985819B222CA}"/>
              </a:ext>
            </a:extLst>
          </p:cNvPr>
          <p:cNvSpPr txBox="1"/>
          <p:nvPr/>
        </p:nvSpPr>
        <p:spPr>
          <a:xfrm>
            <a:off x="838200" y="1510576"/>
            <a:ext cx="108386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 limitations of existing EV charging systems, this project proposes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Piezo-Solar Smart Pad with Wheel-Embedded Receiver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solar energy and piezoelectric power harvesting.</a:t>
            </a:r>
          </a:p>
          <a:p>
            <a:pPr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clean energy during the day, while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piezoelectric sensors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harvest energy from vehicle wheel pressure, enabling 24×7 charging.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IoT controller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real-time monitoring, safety cutoffs, and system control.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transfer occurs via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wheel-embedded receiver module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retrofit compatibility with existing EVs.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SQL backend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anomaly detection and manages billing, while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insights into energy usage and predictive maintenance.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delivers a modular, reliable, and sustainable EV charging infrastructure with strong potential for scalability and patentability.</a:t>
            </a:r>
          </a:p>
        </p:txBody>
      </p:sp>
    </p:spTree>
    <p:extLst>
      <p:ext uri="{BB962C8B-B14F-4D97-AF65-F5344CB8AC3E}">
        <p14:creationId xmlns:p14="http://schemas.microsoft.com/office/powerpoint/2010/main" val="3593182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0889-D64D-1A90-D24C-C8892C8DE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8B0CB7E-78E4-02D6-C265-7D73F34A5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BADD92-E4A7-5EA4-E495-1D2D507BCDB1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749066-AA0A-528D-4256-A5CE26FF57C7}"/>
              </a:ext>
            </a:extLst>
          </p:cNvPr>
          <p:cNvSpPr/>
          <p:nvPr/>
        </p:nvSpPr>
        <p:spPr>
          <a:xfrm>
            <a:off x="11895483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5115D-1123-2B59-8515-575ECD300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-73786"/>
            <a:ext cx="10527792" cy="722376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/>
              <a:t>Methodology</a:t>
            </a:r>
            <a:endParaRPr lang="en-IN" b="1" u="sng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26AB5FC-4CD9-C346-200C-77D7421C1484}"/>
              </a:ext>
            </a:extLst>
          </p:cNvPr>
          <p:cNvGrpSpPr/>
          <p:nvPr/>
        </p:nvGrpSpPr>
        <p:grpSpPr>
          <a:xfrm>
            <a:off x="595667" y="1322149"/>
            <a:ext cx="4775742" cy="3985842"/>
            <a:chOff x="6673313" y="638936"/>
            <a:chExt cx="4950712" cy="382905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B4E7184-4CEC-1114-FF28-822887BBA43C}"/>
                </a:ext>
              </a:extLst>
            </p:cNvPr>
            <p:cNvGrpSpPr/>
            <p:nvPr/>
          </p:nvGrpSpPr>
          <p:grpSpPr>
            <a:xfrm>
              <a:off x="6673313" y="638936"/>
              <a:ext cx="4950712" cy="3474255"/>
              <a:chOff x="6673313" y="638936"/>
              <a:chExt cx="4950712" cy="3474255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74D9941-86DA-F7D6-4197-30B94407B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5300" y="757343"/>
                <a:ext cx="4556308" cy="3253404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412F363-86A0-0F5F-7540-DD1681876C31}"/>
                  </a:ext>
                </a:extLst>
              </p:cNvPr>
              <p:cNvSpPr/>
              <p:nvPr/>
            </p:nvSpPr>
            <p:spPr>
              <a:xfrm>
                <a:off x="6673313" y="638936"/>
                <a:ext cx="4950712" cy="3474255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17ED80-405A-DB03-9268-5CAAD8BB5D2B}"/>
                  </a:ext>
                </a:extLst>
              </p:cNvPr>
              <p:cNvSpPr/>
              <p:nvPr/>
            </p:nvSpPr>
            <p:spPr>
              <a:xfrm>
                <a:off x="6789666" y="757343"/>
                <a:ext cx="4728421" cy="325340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1B61B3-BA71-93FB-1435-D6317257D0DC}"/>
                </a:ext>
              </a:extLst>
            </p:cNvPr>
            <p:cNvSpPr txBox="1"/>
            <p:nvPr/>
          </p:nvSpPr>
          <p:spPr>
            <a:xfrm>
              <a:off x="7717896" y="4113191"/>
              <a:ext cx="2818648" cy="3548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u="sng" dirty="0"/>
                <a:t>Hardware Methodology</a:t>
              </a:r>
              <a:endParaRPr lang="en-IN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1900498B-C579-B44E-BFE6-66CA5D54B413}"/>
              </a:ext>
            </a:extLst>
          </p:cNvPr>
          <p:cNvSpPr/>
          <p:nvPr/>
        </p:nvSpPr>
        <p:spPr>
          <a:xfrm>
            <a:off x="5574015" y="985246"/>
            <a:ext cx="6219274" cy="5636302"/>
          </a:xfrm>
          <a:prstGeom prst="rect">
            <a:avLst/>
          </a:prstGeom>
          <a:ln w="38100">
            <a:prstDash val="solid"/>
            <a:extLst>
              <a:ext uri="{C807C97D-BFC1-408E-A445-0C87EB9F89A2}">
                <ask:lineSketchStyleProps xmlns:ask="http://schemas.microsoft.com/office/drawing/2018/sketchyshapes" sd="3268320815">
                  <a:custGeom>
                    <a:avLst/>
                    <a:gdLst>
                      <a:gd name="connsiteX0" fmla="*/ 0 w 6219274"/>
                      <a:gd name="connsiteY0" fmla="*/ 0 h 5636302"/>
                      <a:gd name="connsiteX1" fmla="*/ 504452 w 6219274"/>
                      <a:gd name="connsiteY1" fmla="*/ 0 h 5636302"/>
                      <a:gd name="connsiteX2" fmla="*/ 1195483 w 6219274"/>
                      <a:gd name="connsiteY2" fmla="*/ 0 h 5636302"/>
                      <a:gd name="connsiteX3" fmla="*/ 1824320 w 6219274"/>
                      <a:gd name="connsiteY3" fmla="*/ 0 h 5636302"/>
                      <a:gd name="connsiteX4" fmla="*/ 2453158 w 6219274"/>
                      <a:gd name="connsiteY4" fmla="*/ 0 h 5636302"/>
                      <a:gd name="connsiteX5" fmla="*/ 3081996 w 6219274"/>
                      <a:gd name="connsiteY5" fmla="*/ 0 h 5636302"/>
                      <a:gd name="connsiteX6" fmla="*/ 3897412 w 6219274"/>
                      <a:gd name="connsiteY6" fmla="*/ 0 h 5636302"/>
                      <a:gd name="connsiteX7" fmla="*/ 4650635 w 6219274"/>
                      <a:gd name="connsiteY7" fmla="*/ 0 h 5636302"/>
                      <a:gd name="connsiteX8" fmla="*/ 5217280 w 6219274"/>
                      <a:gd name="connsiteY8" fmla="*/ 0 h 5636302"/>
                      <a:gd name="connsiteX9" fmla="*/ 6219274 w 6219274"/>
                      <a:gd name="connsiteY9" fmla="*/ 0 h 5636302"/>
                      <a:gd name="connsiteX10" fmla="*/ 6219274 w 6219274"/>
                      <a:gd name="connsiteY10" fmla="*/ 738982 h 5636302"/>
                      <a:gd name="connsiteX11" fmla="*/ 6219274 w 6219274"/>
                      <a:gd name="connsiteY11" fmla="*/ 1196149 h 5636302"/>
                      <a:gd name="connsiteX12" fmla="*/ 6219274 w 6219274"/>
                      <a:gd name="connsiteY12" fmla="*/ 1653315 h 5636302"/>
                      <a:gd name="connsiteX13" fmla="*/ 6219274 w 6219274"/>
                      <a:gd name="connsiteY13" fmla="*/ 2279571 h 5636302"/>
                      <a:gd name="connsiteX14" fmla="*/ 6219274 w 6219274"/>
                      <a:gd name="connsiteY14" fmla="*/ 2849464 h 5636302"/>
                      <a:gd name="connsiteX15" fmla="*/ 6219274 w 6219274"/>
                      <a:gd name="connsiteY15" fmla="*/ 3362994 h 5636302"/>
                      <a:gd name="connsiteX16" fmla="*/ 6219274 w 6219274"/>
                      <a:gd name="connsiteY16" fmla="*/ 4101975 h 5636302"/>
                      <a:gd name="connsiteX17" fmla="*/ 6219274 w 6219274"/>
                      <a:gd name="connsiteY17" fmla="*/ 4840957 h 5636302"/>
                      <a:gd name="connsiteX18" fmla="*/ 6219274 w 6219274"/>
                      <a:gd name="connsiteY18" fmla="*/ 5636302 h 5636302"/>
                      <a:gd name="connsiteX19" fmla="*/ 5466051 w 6219274"/>
                      <a:gd name="connsiteY19" fmla="*/ 5636302 h 5636302"/>
                      <a:gd name="connsiteX20" fmla="*/ 4650635 w 6219274"/>
                      <a:gd name="connsiteY20" fmla="*/ 5636302 h 5636302"/>
                      <a:gd name="connsiteX21" fmla="*/ 3835219 w 6219274"/>
                      <a:gd name="connsiteY21" fmla="*/ 5636302 h 5636302"/>
                      <a:gd name="connsiteX22" fmla="*/ 3206381 w 6219274"/>
                      <a:gd name="connsiteY22" fmla="*/ 5636302 h 5636302"/>
                      <a:gd name="connsiteX23" fmla="*/ 2515351 w 6219274"/>
                      <a:gd name="connsiteY23" fmla="*/ 5636302 h 5636302"/>
                      <a:gd name="connsiteX24" fmla="*/ 1699935 w 6219274"/>
                      <a:gd name="connsiteY24" fmla="*/ 5636302 h 5636302"/>
                      <a:gd name="connsiteX25" fmla="*/ 946712 w 6219274"/>
                      <a:gd name="connsiteY25" fmla="*/ 5636302 h 5636302"/>
                      <a:gd name="connsiteX26" fmla="*/ 0 w 6219274"/>
                      <a:gd name="connsiteY26" fmla="*/ 5636302 h 5636302"/>
                      <a:gd name="connsiteX27" fmla="*/ 0 w 6219274"/>
                      <a:gd name="connsiteY27" fmla="*/ 4953683 h 5636302"/>
                      <a:gd name="connsiteX28" fmla="*/ 0 w 6219274"/>
                      <a:gd name="connsiteY28" fmla="*/ 4327427 h 5636302"/>
                      <a:gd name="connsiteX29" fmla="*/ 0 w 6219274"/>
                      <a:gd name="connsiteY29" fmla="*/ 3813898 h 5636302"/>
                      <a:gd name="connsiteX30" fmla="*/ 0 w 6219274"/>
                      <a:gd name="connsiteY30" fmla="*/ 3356731 h 5636302"/>
                      <a:gd name="connsiteX31" fmla="*/ 0 w 6219274"/>
                      <a:gd name="connsiteY31" fmla="*/ 2617749 h 5636302"/>
                      <a:gd name="connsiteX32" fmla="*/ 0 w 6219274"/>
                      <a:gd name="connsiteY32" fmla="*/ 2047856 h 5636302"/>
                      <a:gd name="connsiteX33" fmla="*/ 0 w 6219274"/>
                      <a:gd name="connsiteY33" fmla="*/ 1365238 h 5636302"/>
                      <a:gd name="connsiteX34" fmla="*/ 0 w 6219274"/>
                      <a:gd name="connsiteY34" fmla="*/ 851708 h 5636302"/>
                      <a:gd name="connsiteX35" fmla="*/ 0 w 6219274"/>
                      <a:gd name="connsiteY35" fmla="*/ 0 h 56363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</a:cxnLst>
                    <a:rect l="l" t="t" r="r" b="b"/>
                    <a:pathLst>
                      <a:path w="6219274" h="5636302" fill="none" extrusionOk="0">
                        <a:moveTo>
                          <a:pt x="0" y="0"/>
                        </a:moveTo>
                        <a:cubicBezTo>
                          <a:pt x="151727" y="20037"/>
                          <a:pt x="280501" y="-19244"/>
                          <a:pt x="504452" y="0"/>
                        </a:cubicBezTo>
                        <a:cubicBezTo>
                          <a:pt x="728403" y="19244"/>
                          <a:pt x="996359" y="-5625"/>
                          <a:pt x="1195483" y="0"/>
                        </a:cubicBezTo>
                        <a:cubicBezTo>
                          <a:pt x="1394607" y="5625"/>
                          <a:pt x="1641926" y="-16658"/>
                          <a:pt x="1824320" y="0"/>
                        </a:cubicBezTo>
                        <a:cubicBezTo>
                          <a:pt x="2006714" y="16658"/>
                          <a:pt x="2320443" y="9839"/>
                          <a:pt x="2453158" y="0"/>
                        </a:cubicBezTo>
                        <a:cubicBezTo>
                          <a:pt x="2585873" y="-9839"/>
                          <a:pt x="2774797" y="23600"/>
                          <a:pt x="3081996" y="0"/>
                        </a:cubicBezTo>
                        <a:cubicBezTo>
                          <a:pt x="3389195" y="-23600"/>
                          <a:pt x="3655802" y="-37340"/>
                          <a:pt x="3897412" y="0"/>
                        </a:cubicBezTo>
                        <a:cubicBezTo>
                          <a:pt x="4139022" y="37340"/>
                          <a:pt x="4373023" y="-13967"/>
                          <a:pt x="4650635" y="0"/>
                        </a:cubicBezTo>
                        <a:cubicBezTo>
                          <a:pt x="4928247" y="13967"/>
                          <a:pt x="5050409" y="-17063"/>
                          <a:pt x="5217280" y="0"/>
                        </a:cubicBezTo>
                        <a:cubicBezTo>
                          <a:pt x="5384151" y="17063"/>
                          <a:pt x="5773850" y="4741"/>
                          <a:pt x="6219274" y="0"/>
                        </a:cubicBezTo>
                        <a:cubicBezTo>
                          <a:pt x="6227264" y="183487"/>
                          <a:pt x="6221352" y="524255"/>
                          <a:pt x="6219274" y="738982"/>
                        </a:cubicBezTo>
                        <a:cubicBezTo>
                          <a:pt x="6217196" y="953709"/>
                          <a:pt x="6199409" y="1005609"/>
                          <a:pt x="6219274" y="1196149"/>
                        </a:cubicBezTo>
                        <a:cubicBezTo>
                          <a:pt x="6239139" y="1386689"/>
                          <a:pt x="6203918" y="1526528"/>
                          <a:pt x="6219274" y="1653315"/>
                        </a:cubicBezTo>
                        <a:cubicBezTo>
                          <a:pt x="6234630" y="1780102"/>
                          <a:pt x="6194319" y="1987637"/>
                          <a:pt x="6219274" y="2279571"/>
                        </a:cubicBezTo>
                        <a:cubicBezTo>
                          <a:pt x="6244229" y="2571505"/>
                          <a:pt x="6245336" y="2733207"/>
                          <a:pt x="6219274" y="2849464"/>
                        </a:cubicBezTo>
                        <a:cubicBezTo>
                          <a:pt x="6193212" y="2965721"/>
                          <a:pt x="6215619" y="3150706"/>
                          <a:pt x="6219274" y="3362994"/>
                        </a:cubicBezTo>
                        <a:cubicBezTo>
                          <a:pt x="6222930" y="3575282"/>
                          <a:pt x="6215806" y="3757120"/>
                          <a:pt x="6219274" y="4101975"/>
                        </a:cubicBezTo>
                        <a:cubicBezTo>
                          <a:pt x="6222742" y="4446830"/>
                          <a:pt x="6253042" y="4489008"/>
                          <a:pt x="6219274" y="4840957"/>
                        </a:cubicBezTo>
                        <a:cubicBezTo>
                          <a:pt x="6185506" y="5192906"/>
                          <a:pt x="6192400" y="5296631"/>
                          <a:pt x="6219274" y="5636302"/>
                        </a:cubicBezTo>
                        <a:cubicBezTo>
                          <a:pt x="6032747" y="5672381"/>
                          <a:pt x="5742260" y="5633689"/>
                          <a:pt x="5466051" y="5636302"/>
                        </a:cubicBezTo>
                        <a:cubicBezTo>
                          <a:pt x="5189842" y="5638915"/>
                          <a:pt x="4852853" y="5653127"/>
                          <a:pt x="4650635" y="5636302"/>
                        </a:cubicBezTo>
                        <a:cubicBezTo>
                          <a:pt x="4448417" y="5619477"/>
                          <a:pt x="4016189" y="5643979"/>
                          <a:pt x="3835219" y="5636302"/>
                        </a:cubicBezTo>
                        <a:cubicBezTo>
                          <a:pt x="3654249" y="5628625"/>
                          <a:pt x="3437039" y="5633185"/>
                          <a:pt x="3206381" y="5636302"/>
                        </a:cubicBezTo>
                        <a:cubicBezTo>
                          <a:pt x="2975723" y="5639419"/>
                          <a:pt x="2788787" y="5612082"/>
                          <a:pt x="2515351" y="5636302"/>
                        </a:cubicBezTo>
                        <a:cubicBezTo>
                          <a:pt x="2241915" y="5660523"/>
                          <a:pt x="2035942" y="5632829"/>
                          <a:pt x="1699935" y="5636302"/>
                        </a:cubicBezTo>
                        <a:cubicBezTo>
                          <a:pt x="1363928" y="5639775"/>
                          <a:pt x="1197562" y="5645655"/>
                          <a:pt x="946712" y="5636302"/>
                        </a:cubicBezTo>
                        <a:cubicBezTo>
                          <a:pt x="695862" y="5626949"/>
                          <a:pt x="233087" y="5605466"/>
                          <a:pt x="0" y="5636302"/>
                        </a:cubicBezTo>
                        <a:cubicBezTo>
                          <a:pt x="26633" y="5445826"/>
                          <a:pt x="-30558" y="5273014"/>
                          <a:pt x="0" y="4953683"/>
                        </a:cubicBezTo>
                        <a:cubicBezTo>
                          <a:pt x="30558" y="4634352"/>
                          <a:pt x="17555" y="4528956"/>
                          <a:pt x="0" y="4327427"/>
                        </a:cubicBezTo>
                        <a:cubicBezTo>
                          <a:pt x="-17555" y="4125898"/>
                          <a:pt x="1153" y="4013379"/>
                          <a:pt x="0" y="3813898"/>
                        </a:cubicBezTo>
                        <a:cubicBezTo>
                          <a:pt x="-1153" y="3614417"/>
                          <a:pt x="-22648" y="3561527"/>
                          <a:pt x="0" y="3356731"/>
                        </a:cubicBezTo>
                        <a:cubicBezTo>
                          <a:pt x="22648" y="3151935"/>
                          <a:pt x="-13290" y="2926876"/>
                          <a:pt x="0" y="2617749"/>
                        </a:cubicBezTo>
                        <a:cubicBezTo>
                          <a:pt x="13290" y="2308622"/>
                          <a:pt x="10862" y="2246507"/>
                          <a:pt x="0" y="2047856"/>
                        </a:cubicBezTo>
                        <a:cubicBezTo>
                          <a:pt x="-10862" y="1849205"/>
                          <a:pt x="17666" y="1619089"/>
                          <a:pt x="0" y="1365238"/>
                        </a:cubicBezTo>
                        <a:cubicBezTo>
                          <a:pt x="-17666" y="1111387"/>
                          <a:pt x="6414" y="975486"/>
                          <a:pt x="0" y="851708"/>
                        </a:cubicBezTo>
                        <a:cubicBezTo>
                          <a:pt x="-6414" y="727930"/>
                          <a:pt x="10180" y="392516"/>
                          <a:pt x="0" y="0"/>
                        </a:cubicBezTo>
                        <a:close/>
                      </a:path>
                      <a:path w="6219274" h="5636302" stroke="0" extrusionOk="0">
                        <a:moveTo>
                          <a:pt x="0" y="0"/>
                        </a:moveTo>
                        <a:cubicBezTo>
                          <a:pt x="220116" y="-1839"/>
                          <a:pt x="301945" y="-28183"/>
                          <a:pt x="566645" y="0"/>
                        </a:cubicBezTo>
                        <a:cubicBezTo>
                          <a:pt x="831345" y="28183"/>
                          <a:pt x="887546" y="16485"/>
                          <a:pt x="1071097" y="0"/>
                        </a:cubicBezTo>
                        <a:cubicBezTo>
                          <a:pt x="1254648" y="-16485"/>
                          <a:pt x="1406444" y="16137"/>
                          <a:pt x="1575549" y="0"/>
                        </a:cubicBezTo>
                        <a:cubicBezTo>
                          <a:pt x="1744654" y="-16137"/>
                          <a:pt x="2043773" y="-30857"/>
                          <a:pt x="2204387" y="0"/>
                        </a:cubicBezTo>
                        <a:cubicBezTo>
                          <a:pt x="2365001" y="30857"/>
                          <a:pt x="2605132" y="-18298"/>
                          <a:pt x="2957610" y="0"/>
                        </a:cubicBezTo>
                        <a:cubicBezTo>
                          <a:pt x="3310088" y="18298"/>
                          <a:pt x="3423542" y="-28773"/>
                          <a:pt x="3586448" y="0"/>
                        </a:cubicBezTo>
                        <a:cubicBezTo>
                          <a:pt x="3749354" y="28773"/>
                          <a:pt x="4009042" y="-34149"/>
                          <a:pt x="4339671" y="0"/>
                        </a:cubicBezTo>
                        <a:cubicBezTo>
                          <a:pt x="4670300" y="34149"/>
                          <a:pt x="4809012" y="-35503"/>
                          <a:pt x="5155087" y="0"/>
                        </a:cubicBezTo>
                        <a:cubicBezTo>
                          <a:pt x="5501162" y="35503"/>
                          <a:pt x="5971354" y="45984"/>
                          <a:pt x="6219274" y="0"/>
                        </a:cubicBezTo>
                        <a:cubicBezTo>
                          <a:pt x="6199951" y="249571"/>
                          <a:pt x="6214843" y="519142"/>
                          <a:pt x="6219274" y="738982"/>
                        </a:cubicBezTo>
                        <a:cubicBezTo>
                          <a:pt x="6223705" y="958822"/>
                          <a:pt x="6197699" y="1141599"/>
                          <a:pt x="6219274" y="1308875"/>
                        </a:cubicBezTo>
                        <a:cubicBezTo>
                          <a:pt x="6240849" y="1476151"/>
                          <a:pt x="6197907" y="1598387"/>
                          <a:pt x="6219274" y="1822404"/>
                        </a:cubicBezTo>
                        <a:cubicBezTo>
                          <a:pt x="6240641" y="2046421"/>
                          <a:pt x="6192081" y="2284208"/>
                          <a:pt x="6219274" y="2448660"/>
                        </a:cubicBezTo>
                        <a:cubicBezTo>
                          <a:pt x="6246467" y="2613112"/>
                          <a:pt x="6187879" y="2963808"/>
                          <a:pt x="6219274" y="3187642"/>
                        </a:cubicBezTo>
                        <a:cubicBezTo>
                          <a:pt x="6250669" y="3411476"/>
                          <a:pt x="6196288" y="3506580"/>
                          <a:pt x="6219274" y="3813898"/>
                        </a:cubicBezTo>
                        <a:cubicBezTo>
                          <a:pt x="6242260" y="4121216"/>
                          <a:pt x="6207251" y="4314978"/>
                          <a:pt x="6219274" y="4552880"/>
                        </a:cubicBezTo>
                        <a:cubicBezTo>
                          <a:pt x="6231297" y="4790782"/>
                          <a:pt x="6200463" y="5398712"/>
                          <a:pt x="6219274" y="5636302"/>
                        </a:cubicBezTo>
                        <a:cubicBezTo>
                          <a:pt x="5944357" y="5631782"/>
                          <a:pt x="5696643" y="5659984"/>
                          <a:pt x="5403858" y="5636302"/>
                        </a:cubicBezTo>
                        <a:cubicBezTo>
                          <a:pt x="5111073" y="5612620"/>
                          <a:pt x="5007303" y="5654889"/>
                          <a:pt x="4775020" y="5636302"/>
                        </a:cubicBezTo>
                        <a:cubicBezTo>
                          <a:pt x="4542737" y="5617715"/>
                          <a:pt x="4230839" y="5645880"/>
                          <a:pt x="4083990" y="5636302"/>
                        </a:cubicBezTo>
                        <a:cubicBezTo>
                          <a:pt x="3937141" y="5626725"/>
                          <a:pt x="3821401" y="5628144"/>
                          <a:pt x="3579538" y="5636302"/>
                        </a:cubicBezTo>
                        <a:cubicBezTo>
                          <a:pt x="3337675" y="5644460"/>
                          <a:pt x="2961539" y="5664075"/>
                          <a:pt x="2764122" y="5636302"/>
                        </a:cubicBezTo>
                        <a:cubicBezTo>
                          <a:pt x="2566705" y="5608529"/>
                          <a:pt x="2381912" y="5656654"/>
                          <a:pt x="2010899" y="5636302"/>
                        </a:cubicBezTo>
                        <a:cubicBezTo>
                          <a:pt x="1639886" y="5615950"/>
                          <a:pt x="1487717" y="5637711"/>
                          <a:pt x="1319868" y="5636302"/>
                        </a:cubicBezTo>
                        <a:cubicBezTo>
                          <a:pt x="1152019" y="5634893"/>
                          <a:pt x="945114" y="5655475"/>
                          <a:pt x="691030" y="5636302"/>
                        </a:cubicBezTo>
                        <a:cubicBezTo>
                          <a:pt x="436946" y="5617129"/>
                          <a:pt x="318598" y="5667502"/>
                          <a:pt x="0" y="5636302"/>
                        </a:cubicBezTo>
                        <a:cubicBezTo>
                          <a:pt x="-13674" y="5498409"/>
                          <a:pt x="8565" y="5287509"/>
                          <a:pt x="0" y="4953683"/>
                        </a:cubicBezTo>
                        <a:cubicBezTo>
                          <a:pt x="-8565" y="4619857"/>
                          <a:pt x="16388" y="4593554"/>
                          <a:pt x="0" y="4440153"/>
                        </a:cubicBezTo>
                        <a:cubicBezTo>
                          <a:pt x="-16388" y="4286752"/>
                          <a:pt x="-13540" y="3949410"/>
                          <a:pt x="0" y="3757535"/>
                        </a:cubicBezTo>
                        <a:cubicBezTo>
                          <a:pt x="13540" y="3565660"/>
                          <a:pt x="17352" y="3406240"/>
                          <a:pt x="0" y="3300368"/>
                        </a:cubicBezTo>
                        <a:cubicBezTo>
                          <a:pt x="-17352" y="3194496"/>
                          <a:pt x="17610" y="3011174"/>
                          <a:pt x="0" y="2843201"/>
                        </a:cubicBezTo>
                        <a:cubicBezTo>
                          <a:pt x="-17610" y="2675228"/>
                          <a:pt x="-3559" y="2346443"/>
                          <a:pt x="0" y="2216945"/>
                        </a:cubicBezTo>
                        <a:cubicBezTo>
                          <a:pt x="3559" y="2087447"/>
                          <a:pt x="13587" y="1860570"/>
                          <a:pt x="0" y="1759779"/>
                        </a:cubicBezTo>
                        <a:cubicBezTo>
                          <a:pt x="-13587" y="1658988"/>
                          <a:pt x="6044" y="1399683"/>
                          <a:pt x="0" y="1189886"/>
                        </a:cubicBezTo>
                        <a:cubicBezTo>
                          <a:pt x="-6044" y="980089"/>
                          <a:pt x="-22748" y="709254"/>
                          <a:pt x="0" y="563630"/>
                        </a:cubicBezTo>
                        <a:cubicBezTo>
                          <a:pt x="22748" y="418006"/>
                          <a:pt x="13260" y="18026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system integrates renewable energy harvesting and IoT-based monitoring for wireless EV charging. Solar panels provide stable DC power through a regulator, while piezoelectric sensors embedded in the road generate AC that is converted using a full-wave rectifier and filter, then regulated for storage.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Both energy sources feed into a charge controller, which safely manages a battery or supercapacitor bank.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Stored energy is boosted by a DC-DC converter and passed to a resonant inverter that drives the transmitter coil, creating a high-frequency magnetic field for wireless power transfer.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receiver coil in the EV captures this energy, rectifies it, and channels it to the EV battery via its BMS.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 ensure safe and efficient operation, sensors such as IR (vehicle detection), Hall effect (coil current), and load/current sensors monitor the process.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An ESP32 IoT controller, powered from the storage battery, collects sensor data, regulates control signals, and transmits real-time performance metrics over Wi-Fi to a cloud server and dashboard for analysis and user monitoring.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4835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DDE164D3-615F-34F9-6CA5-44FD194E3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57EEBA-0B22-32FA-7640-71AC262ACC2F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0E00B-F1F8-DC94-F9CB-679BBE01F58A}"/>
              </a:ext>
            </a:extLst>
          </p:cNvPr>
          <p:cNvSpPr/>
          <p:nvPr/>
        </p:nvSpPr>
        <p:spPr>
          <a:xfrm>
            <a:off x="11895483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53219-CF01-4E95-2486-76095E23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-73786"/>
            <a:ext cx="10527792" cy="722376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/>
              <a:t>Methodology</a:t>
            </a:r>
            <a:endParaRPr lang="en-IN" b="1" u="sng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3E9956-7A42-5166-B978-6C178A382B4B}"/>
              </a:ext>
            </a:extLst>
          </p:cNvPr>
          <p:cNvGrpSpPr/>
          <p:nvPr/>
        </p:nvGrpSpPr>
        <p:grpSpPr>
          <a:xfrm>
            <a:off x="544795" y="1247138"/>
            <a:ext cx="4801446" cy="3969438"/>
            <a:chOff x="655614" y="593717"/>
            <a:chExt cx="4801446" cy="311863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0AD451D-80D4-811A-23D7-551F00E78F47}"/>
                </a:ext>
              </a:extLst>
            </p:cNvPr>
            <p:cNvGrpSpPr/>
            <p:nvPr/>
          </p:nvGrpSpPr>
          <p:grpSpPr>
            <a:xfrm>
              <a:off x="655614" y="593717"/>
              <a:ext cx="4801446" cy="2830466"/>
              <a:chOff x="548782" y="584563"/>
              <a:chExt cx="4801446" cy="2830466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B687210-DCC9-72B0-5931-DD0C643957B4}"/>
                  </a:ext>
                </a:extLst>
              </p:cNvPr>
              <p:cNvGrpSpPr/>
              <p:nvPr/>
            </p:nvGrpSpPr>
            <p:grpSpPr>
              <a:xfrm>
                <a:off x="548782" y="584563"/>
                <a:ext cx="4801446" cy="2830466"/>
                <a:chOff x="304801" y="577842"/>
                <a:chExt cx="4801446" cy="2830466"/>
              </a:xfrm>
            </p:grpSpPr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36908959-3F0F-9826-334B-5170C4BBAB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897"/>
                <a:stretch>
                  <a:fillRect/>
                </a:stretch>
              </p:blipFill>
              <p:spPr>
                <a:xfrm>
                  <a:off x="304801" y="577842"/>
                  <a:ext cx="4801446" cy="2830466"/>
                </a:xfrm>
                <a:prstGeom prst="rect">
                  <a:avLst/>
                </a:prstGeom>
              </p:spPr>
            </p:pic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D602E79F-CA34-60A6-F501-D3D29F202432}"/>
                    </a:ext>
                  </a:extLst>
                </p:cNvPr>
                <p:cNvSpPr/>
                <p:nvPr/>
              </p:nvSpPr>
              <p:spPr>
                <a:xfrm>
                  <a:off x="502920" y="722376"/>
                  <a:ext cx="4489704" cy="2505456"/>
                </a:xfrm>
                <a:prstGeom prst="rect">
                  <a:avLst/>
                </a:prstGeom>
                <a:noFill/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916F2-FD63-AD62-F2CB-B86E86BA95D7}"/>
                  </a:ext>
                </a:extLst>
              </p:cNvPr>
              <p:cNvSpPr/>
              <p:nvPr/>
            </p:nvSpPr>
            <p:spPr>
              <a:xfrm>
                <a:off x="633278" y="629782"/>
                <a:ext cx="4716949" cy="2704085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0EA4EF6-583A-CF93-AA86-CECA7750F703}"/>
                </a:ext>
              </a:extLst>
            </p:cNvPr>
            <p:cNvSpPr txBox="1"/>
            <p:nvPr/>
          </p:nvSpPr>
          <p:spPr>
            <a:xfrm>
              <a:off x="1912150" y="3343021"/>
              <a:ext cx="23728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u="sng" dirty="0"/>
                <a:t>Software Methodology</a:t>
              </a:r>
              <a:endParaRPr lang="en-IN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D54A11B-F37D-D6FD-3F28-C5D5E24C867B}"/>
              </a:ext>
            </a:extLst>
          </p:cNvPr>
          <p:cNvSpPr/>
          <p:nvPr/>
        </p:nvSpPr>
        <p:spPr>
          <a:xfrm>
            <a:off x="5511225" y="1247138"/>
            <a:ext cx="6219274" cy="5341751"/>
          </a:xfrm>
          <a:prstGeom prst="rect">
            <a:avLst/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 ESP32 transmits real-time sensor and energy data via Wi-Fi to a Python backend, which cleans, preprocesses, and formats the information before storing it in a structured SQL database.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An AI anomaly detection module runs on this data to identify unusual patterns such as faults, abnormal demand, or predictive maintenance needs.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On the visualization side, a Power BI dashboard connected to the database provides administrators with analytics on total energy harvested, charging sessions, and system alerts, while a user-facing mobile/web app communicates through the backend API to show EV owners their charging status, energy delivered, and billing details in an accessible interface.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9870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39446-97C4-1A32-8C41-ACB199405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057D29-C704-D01A-9F59-0CB342A0C6E7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D45259-152A-1FE3-3388-0CF348180129}"/>
              </a:ext>
            </a:extLst>
          </p:cNvPr>
          <p:cNvSpPr/>
          <p:nvPr/>
        </p:nvSpPr>
        <p:spPr>
          <a:xfrm>
            <a:off x="11895483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AF6799-AECA-D024-54FC-7FCA0996FFD4}"/>
              </a:ext>
            </a:extLst>
          </p:cNvPr>
          <p:cNvGrpSpPr/>
          <p:nvPr/>
        </p:nvGrpSpPr>
        <p:grpSpPr>
          <a:xfrm>
            <a:off x="3265501" y="98962"/>
            <a:ext cx="5669280" cy="6759038"/>
            <a:chOff x="3265501" y="98962"/>
            <a:chExt cx="5669280" cy="675903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E7C445-C061-EAD5-1A6F-23C519C58026}"/>
                </a:ext>
              </a:extLst>
            </p:cNvPr>
            <p:cNvSpPr txBox="1"/>
            <p:nvPr/>
          </p:nvSpPr>
          <p:spPr>
            <a:xfrm>
              <a:off x="4887614" y="6457890"/>
              <a:ext cx="283696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u="sng" dirty="0"/>
                <a:t>Integrated </a:t>
              </a:r>
              <a:r>
                <a:rPr lang="en-US" sz="2000" b="1" u="sng" dirty="0"/>
                <a:t>Methodology</a:t>
              </a:r>
              <a:endParaRPr lang="en-IN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372D062-54EE-33EE-2AC6-5BB69C3183F3}"/>
                </a:ext>
              </a:extLst>
            </p:cNvPr>
            <p:cNvGrpSpPr/>
            <p:nvPr/>
          </p:nvGrpSpPr>
          <p:grpSpPr>
            <a:xfrm>
              <a:off x="3265501" y="98962"/>
              <a:ext cx="5669280" cy="6409945"/>
              <a:chOff x="2880360" y="-1"/>
              <a:chExt cx="5669280" cy="640994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7C0EDA5-7CD3-54C3-97C8-24B7CF969B7D}"/>
                  </a:ext>
                </a:extLst>
              </p:cNvPr>
              <p:cNvSpPr/>
              <p:nvPr/>
            </p:nvSpPr>
            <p:spPr>
              <a:xfrm>
                <a:off x="2880360" y="-1"/>
                <a:ext cx="5669280" cy="6409945"/>
              </a:xfrm>
              <a:prstGeom prst="rect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76D6E05-8BBA-DE9B-4E70-60C9256C9D59}"/>
                  </a:ext>
                </a:extLst>
              </p:cNvPr>
              <p:cNvGrpSpPr/>
              <p:nvPr/>
            </p:nvGrpSpPr>
            <p:grpSpPr>
              <a:xfrm>
                <a:off x="3014472" y="98962"/>
                <a:ext cx="5398008" cy="6209890"/>
                <a:chOff x="3014472" y="98962"/>
                <a:chExt cx="5398008" cy="6209890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600490F7-2B87-AB90-B5F4-0ED97DEECC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29452" y="195531"/>
                  <a:ext cx="4771096" cy="6016752"/>
                </a:xfrm>
                <a:prstGeom prst="rect">
                  <a:avLst/>
                </a:prstGeom>
              </p:spPr>
            </p:pic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8289A505-F4EA-F271-047A-395374AC1B3B}"/>
                    </a:ext>
                  </a:extLst>
                </p:cNvPr>
                <p:cNvSpPr/>
                <p:nvPr/>
              </p:nvSpPr>
              <p:spPr>
                <a:xfrm>
                  <a:off x="3014472" y="98962"/>
                  <a:ext cx="5398008" cy="6209890"/>
                </a:xfrm>
                <a:prstGeom prst="rect">
                  <a:avLst/>
                </a:prstGeom>
                <a:noFill/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62474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D56B88-3AB5-718D-E367-8EB5217C5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3A22A3-9E80-6109-6A62-29337AEA4E06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2EACC8-7194-BBAC-90C3-5D1059954465}"/>
              </a:ext>
            </a:extLst>
          </p:cNvPr>
          <p:cNvSpPr/>
          <p:nvPr/>
        </p:nvSpPr>
        <p:spPr>
          <a:xfrm>
            <a:off x="11895483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2AC3C-F1DA-8242-E640-EB825221094C}"/>
              </a:ext>
            </a:extLst>
          </p:cNvPr>
          <p:cNvSpPr txBox="1"/>
          <p:nvPr/>
        </p:nvSpPr>
        <p:spPr>
          <a:xfrm>
            <a:off x="4125609" y="263390"/>
            <a:ext cx="4314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/>
              <a:t>Expected</a:t>
            </a:r>
            <a:r>
              <a:rPr lang="en-IN" sz="4000" b="1" dirty="0"/>
              <a:t> </a:t>
            </a:r>
            <a:r>
              <a:rPr lang="en-IN" sz="4000" b="1" u="sng" dirty="0"/>
              <a:t>Outcome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4DB9AC-53C3-7276-DC78-462F8C0A5F08}"/>
              </a:ext>
            </a:extLst>
          </p:cNvPr>
          <p:cNvSpPr txBox="1"/>
          <p:nvPr/>
        </p:nvSpPr>
        <p:spPr>
          <a:xfrm>
            <a:off x="893732" y="1548058"/>
            <a:ext cx="10085832" cy="470898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working prototype of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Piezo-Solar Smart Pad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provides continuous EV charging using solar and piezoelectric energy.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IoT-based monitoring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real-time data collection, safety cutoffs, and energy management.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functional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wheel-embedded receiver module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energy transfer to EVs.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anomaly detection, automated billing, and predictive maintenance.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showing energy usage, charging analytics, and system health.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cost-effective, modular, and sustainable solution suitable for small-scale EVs (like e-bikes), with potential for future large-scale deployment and patent development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41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0FA751C-2270-02FC-EEDD-172EB466B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4AFDA9-B242-6187-AC47-F550786F3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5652" y="282829"/>
            <a:ext cx="2517648" cy="659003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+mn-lt"/>
              </a:rPr>
              <a:t>Conclusion</a:t>
            </a:r>
            <a:endParaRPr lang="en-IN" u="sng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6E68B-7F56-A4C4-89BE-A7B9F278E423}"/>
              </a:ext>
            </a:extLst>
          </p:cNvPr>
          <p:cNvSpPr txBox="1"/>
          <p:nvPr/>
        </p:nvSpPr>
        <p:spPr>
          <a:xfrm>
            <a:off x="1909968" y="2274838"/>
            <a:ext cx="8556498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proposes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Piezo-Solar Smart Pad with Wheel-Embedded Receiver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address the challenges of EV charging infrastructure. By combining solar and piezoelectric energy harvesting, along with IoT-based monitoring and AI-powered analytics, the system ensures reliable, sustainable, and cost-effective EV charging.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demonstrates a modular design suitable for campuses and smart cities, promoting reduced grid dependency and eco-friendly energy use. It offers strong potential for scalability, retrofit compatibility, and future patent opportunities, contributing to the growth of sustainable transportation solutions.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1B96E0-48B8-6065-1FD7-D7F5C0A84CD4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7866F-A163-6641-1939-244964A77782}"/>
              </a:ext>
            </a:extLst>
          </p:cNvPr>
          <p:cNvSpPr/>
          <p:nvPr/>
        </p:nvSpPr>
        <p:spPr>
          <a:xfrm>
            <a:off x="11895483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2267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36688E-1660-0639-9AB1-D97E6B314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57EEBA-0B22-32FA-7640-71AC262ACC2F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0E00B-F1F8-DC94-F9CB-679BBE01F58A}"/>
              </a:ext>
            </a:extLst>
          </p:cNvPr>
          <p:cNvSpPr/>
          <p:nvPr/>
        </p:nvSpPr>
        <p:spPr>
          <a:xfrm>
            <a:off x="11887200" y="0"/>
            <a:ext cx="304800" cy="6858000"/>
          </a:xfrm>
          <a:prstGeom prst="rect">
            <a:avLst/>
          </a:prstGeom>
          <a:ln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53219-CF01-4E95-2486-76095E23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7455" y="164593"/>
            <a:ext cx="2797090" cy="859536"/>
          </a:xfrm>
        </p:spPr>
        <p:txBody>
          <a:bodyPr/>
          <a:lstStyle/>
          <a:p>
            <a:pPr algn="ctr"/>
            <a:r>
              <a:rPr lang="en-US" b="1" u="sng" dirty="0">
                <a:latin typeface="+mn-lt"/>
              </a:rPr>
              <a:t>References</a:t>
            </a:r>
            <a:endParaRPr lang="en-IN" b="1" u="sng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5A1AA-3EAD-8919-9742-3EF6F96F3589}"/>
              </a:ext>
            </a:extLst>
          </p:cNvPr>
          <p:cNvSpPr txBox="1"/>
          <p:nvPr/>
        </p:nvSpPr>
        <p:spPr>
          <a:xfrm>
            <a:off x="834390" y="1325563"/>
            <a:ext cx="90361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hlinkClick r:id="rId3"/>
              </a:rPr>
              <a:t>https://ieeexplore.ieee.org/abstract/document/10473997</a:t>
            </a:r>
            <a:endParaRPr lang="en-IN" sz="2000" dirty="0"/>
          </a:p>
          <a:p>
            <a:br>
              <a:rPr lang="en-IN" sz="2000" dirty="0"/>
            </a:br>
            <a:r>
              <a:rPr lang="en-IN" sz="2000" dirty="0">
                <a:hlinkClick r:id="rId4"/>
              </a:rPr>
              <a:t>https://www.sciencedirect.com/science/article/pii/S2772671124001426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>
                <a:hlinkClick r:id="rId5"/>
              </a:rPr>
              <a:t>https://ieeexplore.ieee.org/abstract/document/10771773</a:t>
            </a:r>
            <a:endParaRPr lang="en-IN" sz="2000" dirty="0"/>
          </a:p>
          <a:p>
            <a:br>
              <a:rPr lang="en-IN" sz="2000" dirty="0"/>
            </a:br>
            <a:r>
              <a:rPr lang="en-IN" sz="2000" dirty="0">
                <a:hlinkClick r:id="rId6"/>
              </a:rPr>
              <a:t>https://ieeexplore.ieee.org/abstract/document/9970736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>
                <a:hlinkClick r:id="rId7"/>
              </a:rPr>
              <a:t>https://ieeexplore.ieee.org/abstract/document/10198186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>
                <a:hlinkClick r:id="rId5"/>
              </a:rPr>
              <a:t>https://ieeexplore.ieee.org/abstract/document/10771773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>
                <a:hlinkClick r:id="rId8"/>
              </a:rPr>
              <a:t>https://ieeexplore.ieee.org/abstract/document/10705693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>
                <a:hlinkClick r:id="rId9"/>
              </a:rPr>
              <a:t>https://ieeexplore.ieee.org/abstract/document/10689419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>
                <a:hlinkClick r:id="rId10"/>
              </a:rPr>
              <a:t>https://ieeexplore.ieee.org/abstract/document/10699341</a:t>
            </a: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74309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29D294-2EA6-F78F-9EAC-0C993232E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1BACC9-86DA-F063-FB9D-1151739F4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4435" y="1992516"/>
            <a:ext cx="4406017" cy="2400580"/>
          </a:xfrm>
        </p:spPr>
        <p:txBody>
          <a:bodyPr>
            <a:normAutofit/>
          </a:bodyPr>
          <a:lstStyle/>
          <a:p>
            <a:pPr algn="ctr"/>
            <a:r>
              <a:rPr lang="en-IN" sz="7200" b="1" dirty="0">
                <a:latin typeface="+mn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09994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374</TotalTime>
  <Words>2479</Words>
  <Application>Microsoft Office PowerPoint</Application>
  <PresentationFormat>Widescreen</PresentationFormat>
  <Paragraphs>180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INTRODUCTION</vt:lpstr>
      <vt:lpstr>Objective</vt:lpstr>
      <vt:lpstr>PROBLEM STATEMENT</vt:lpstr>
      <vt:lpstr>State of the Art-work</vt:lpstr>
      <vt:lpstr>PowerPoint Presentation</vt:lpstr>
      <vt:lpstr>PowerPoint Presentation</vt:lpstr>
      <vt:lpstr>Proposed Solution</vt:lpstr>
      <vt:lpstr>Methodology</vt:lpstr>
      <vt:lpstr>Methodology</vt:lpstr>
      <vt:lpstr>PowerPoint Presentation</vt:lpstr>
      <vt:lpstr>PowerPoint Presentation</vt:lpstr>
      <vt:lpstr>Conclusion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Janardhan K S</dc:creator>
  <cp:lastModifiedBy>Virika Soans</cp:lastModifiedBy>
  <cp:revision>10</cp:revision>
  <dcterms:created xsi:type="dcterms:W3CDTF">2024-03-12T10:26:30Z</dcterms:created>
  <dcterms:modified xsi:type="dcterms:W3CDTF">2025-09-18T17:42:34Z</dcterms:modified>
</cp:coreProperties>
</file>